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[PITCH D'OUVERTURE - 0:00 à 0:45]</a:t>
            </a:r>
          </a:p>
          <a:p>
            <a:r>
              <a:t>Bonjour à tous, membres du jury.</a:t>
            </a:r>
          </a:p>
          <a:p>
            <a:r>
              <a:t>À l'automne 2026, la question n'est plus de savoir si un système d'information critique va subir une cyberattaque ou une défaillance majeure, mais à quelle vitesse et avec quel degré d'autonomie il est capable de s'en relever.</a:t>
            </a:r>
          </a:p>
          <a:p>
            <a:r>
              <a:t>Face à la multiplication des indisponibilités d'infrastructures de paiement et aux interventions manuelles lentes et coûteuses, notre consortium — composé de Théo, Mael, Flora, Fely et Aymeric — a conçu et implémenté PROJECT RESILIENCE-ALPHA.</a:t>
            </a:r>
          </a:p>
          <a:p>
            <a:r>
              <a:t>Notre mission : prouver qu'une plateforme transactionnelle critique peut encaisser une attaque Red Team en conditions réelles, détecter l'anomalie par Machine Learning, et déclencher une remédiation Zero-Touch 100% autonome validée par une nouvelle transaction bancaire réussie.</a:t>
            </a:r>
          </a:p>
          <a:p>
            <a:r>
              <a:t>Voici comment nous avons relevé ce défi.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[CADRAGE STRATÉGIQUE - 0:45 à 1:15]</a:t>
            </a:r>
          </a:p>
          <a:p>
            <a:r>
              <a:t>Le cahier des charges posé par la Direction Nationale de la Sûreté Numérique est sans ambiguïté :</a:t>
            </a:r>
          </a:p>
          <a:p>
            <a:r>
              <a:t>Dans un secteur bancaire hautement réglementé, l'indisponibilité se chiffre en milliers d'euros par minute. Relancer un service à la main est anachronique et dangereux.</a:t>
            </a:r>
          </a:p>
          <a:p>
            <a:r>
              <a:t>Mais attention : la règle d'or de ce workshop pénalise toute intervention humaine d'un 0 éliminatoire.</a:t>
            </a:r>
          </a:p>
          <a:p>
            <a:r>
              <a:t>De plus, un conteneur qui affiche un statut 'Running' ne prouve rien si la logique métier est bloquée. C'est pourquoi notre moteur valide la reprise par la preuve ultime : l'exécution automatisée d'une transaction bancaire réelle après l'incident.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[COHÉRENCE D'ARCHITECTURE - 1:15 à 1:45]</a:t>
            </a:r>
          </a:p>
          <a:p>
            <a:r>
              <a:t>Chacun des 5 domaines requis par le référentiel national n'est pas une brique isolée : ils sont intimement interconnectés au cœur de notre chaîne de valeur.</a:t>
            </a:r>
          </a:p>
          <a:p>
            <a:r>
              <a:t>Le pilier DEV fournit les microservices et l'UI.</a:t>
            </a:r>
          </a:p>
          <a:p>
            <a:r>
              <a:t>L'INFRAstructure assure l'orchestration résiliente sous Kubernetes avec Helm et la captation télémétrique Prometheus.</a:t>
            </a:r>
          </a:p>
          <a:p>
            <a:r>
              <a:t>La CYBERSÉCURITÉ filtre les menaces évidentes au niveau WAF et challenge la résilience via notre console Red Team externe.</a:t>
            </a:r>
          </a:p>
          <a:p>
            <a:r>
              <a:t>L'IA/DATA traite les signaux en continu via notre modèle non-supervisé Isolation Forest.</a:t>
            </a:r>
          </a:p>
          <a:p>
            <a:r>
              <a:t>Enfin, la TRANSFORMATION garantit que chaque brique technique répond scrupuleusement aux impératifs d'EBIOS RM et des règlements NIS2 et DORA.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[EXPLICATION DÉVELOPPEMENT - 1:45 à 2:15]</a:t>
            </a:r>
          </a:p>
          <a:p>
            <a:r>
              <a:t>Côté développement, nous avons fait le choix de microservices légers et performants en FastAPI pour le backend et React/Tailwind pour le frontend.</a:t>
            </a:r>
          </a:p>
          <a:p>
            <a:r>
              <a:t>Deux éléments majeurs caractérisent notre implémentation :</a:t>
            </a:r>
          </a:p>
          <a:p>
            <a:r>
              <a:t>D'abord, le cloisonnement des privilèges. Suivant les préceptes de DORA, nous avons créé un microservice d'authentification dédié. L'accès à la supervision et aux déclenchements manuels exige un jeton JWT Bearer chiffré.</a:t>
            </a:r>
          </a:p>
          <a:p>
            <a:r>
              <a:t>Ensuite, le composant verifier.py au sein de notre moteur de remédiation. Dès que le redémarrage d'un réplica est achevé, il transmet une transaction synthétique de test. Si elle réussit, la reprise est certifiée et journalisée.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[EXPLICATION INFRASTRUCTURE - 2:15 à 2:45]</a:t>
            </a:r>
          </a:p>
          <a:p>
            <a:r>
              <a:t>Côté infrastructure, nous avons industrialisé l'environnement au moyen d'un Helm Chart officiel.</a:t>
            </a:r>
          </a:p>
          <a:p>
            <a:r>
              <a:t>Trois réplicas de l'API de paiement tournent en permanence derrière un Ingress Controller.</a:t>
            </a:r>
          </a:p>
          <a:p>
            <a:r>
              <a:t>Si une attaque volumétrique survient, le Horizontal Pod Autoscaler (HPA) augmente automatiquement les instances jusqu'à 8 pods.</a:t>
            </a:r>
          </a:p>
          <a:p>
            <a:r>
              <a:t>La chaîne d'observabilité repose sur Prometheus configuré pour scraper les métriques à haute fréquence (1 seconde). C'est ce flux télémétrique direct qui nourrit en temps réel notre moteur d'intelligence artificielle.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[CYBERSÉCURITÉ &amp; POSTURE DÉFENSIVE - 2:45 à 3:15]</a:t>
            </a:r>
          </a:p>
          <a:p>
            <a:r>
              <a:t>En cybersécurité, notre philosophie a été d'adopter une défense en profondeur à double détente :</a:t>
            </a:r>
          </a:p>
          <a:p>
            <a:r>
              <a:t>Première détente : le pare-feu applicatif Nginx. Il applique des règles strictes de réputation d'agents et de limitation de débit. Un attaquant qui lance un scan Nikto ou SQLmap est immédiatement stoppé avec un code 403. S'il tente d'inonder la route de paiement, il reçoit un 429.</a:t>
            </a:r>
          </a:p>
          <a:p>
            <a:r>
              <a:t>Deuxième détente : que se passe-t-il si l'attaque est plus sophistiquée, comme une attaque Slowloris par maintien de sockets ou une dégradation logique interne ?</a:t>
            </a:r>
          </a:p>
          <a:p>
            <a:r>
              <a:t>C'est précisément là que le WAF ne peut plus suffire, et que notre pilier Machine Learning intervient.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AIOPS - 3:15 à 3:45]</a:t>
            </a:r>
          </a:p>
          <a:p>
            <a:r>
              <a:t>Pour la détection d'anomalies, le sujet proscrivait les simples seuils fixes codés en dur.</a:t>
            </a:r>
          </a:p>
          <a:p>
            <a:r>
              <a:t>Nous avons implémenté un modèle non supervisé Isolation Forest avec Scikit-learn.</a:t>
            </a:r>
          </a:p>
          <a:p>
            <a:r>
              <a:t>Toutes les 3 secondes, notre script extrait un vecteur télémétrique à quatre dimensions : le débit de requêtes par seconde, la latence moyenne en millisecondes, le taux d'erreurs 5xx, et les requêtes concurrentes actives.</a:t>
            </a:r>
          </a:p>
          <a:p>
            <a:r>
              <a:t>Le modèle compare ce vecteur à la distribution normale. Dès que deux cycles consécutifs signalent une anomalie comportementale — même sans plantage brutal du conteneur —, le détecteur expédie un webhook vers le moteur de remédiation.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[CYCLE DE VIE DE LA RÉSILIENCE - 3:45 à 4:15]</a:t>
            </a:r>
          </a:p>
          <a:p>
            <a:r>
              <a:t>Voici la chronologie exacte de notre chaîne de cyber-résilience autonome.</a:t>
            </a:r>
          </a:p>
          <a:p>
            <a:r>
              <a:t>En moins de 20 secondes montre en main :</a:t>
            </a:r>
          </a:p>
          <a:p>
            <a:r>
              <a:t>À T0, l'attaque est lancée depuis la machine Red Team.</a:t>
            </a:r>
          </a:p>
          <a:p>
            <a:r>
              <a:t>À T+3s, le service se dégrade, la latence monte.</a:t>
            </a:r>
          </a:p>
          <a:p>
            <a:r>
              <a:t>À T+6s, notre Isolation Forest détecte la signature comportementale anormale et alerte le moteur de remédiation.</a:t>
            </a:r>
          </a:p>
          <a:p>
            <a:r>
              <a:t>À T+8s, le moteur engage l'action corrective sous Kubernetes.</a:t>
            </a:r>
          </a:p>
          <a:p>
            <a:r>
              <a:t>À T+18s, un paiement synthétique est exécuté avec succès.</a:t>
            </a:r>
          </a:p>
          <a:p>
            <a:r>
              <a:t>Le service est pleinement rétabli, sans qu'aucun membre de l'équipe n'ait touché à son clavier.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[MATRICE D'ATTAQUE - 4:15 à 4:45]</a:t>
            </a:r>
          </a:p>
          <a:p>
            <a:r>
              <a:t>Nous avons préparé 5 attaques distinctes pour tester tous les étages de notre défense.</a:t>
            </a:r>
          </a:p>
          <a:p>
            <a:r>
              <a:t>Les attaques 1 et 2 démontrent l'efficacité de la prévention WAF et du dimensionnement d'infrastructure avec le HPA.</a:t>
            </a:r>
          </a:p>
          <a:p>
            <a:r>
              <a:t>Les attaques 3, 4 et 5 démontrent la cyber-résilience autonome face à l'inévitable :</a:t>
            </a:r>
          </a:p>
          <a:p>
            <a:r>
              <a:t>Que l'incident provienne d'une saturation de descripteurs de sockets (Slowloris), d'un bug applicatif dégradant insidieusement les paiements (Chaos), ou d'un crash fatal physique, notre système dispose de la réponse automatisée adaptée.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CHRONO 60 SECONDES - 4:45 à 5:15]</a:t>
            </a:r>
          </a:p>
          <a:p>
            <a:r>
              <a:t>Le Clip Chrono est un livrable capital évalué sur 15 points en finale nationale.</a:t>
            </a:r>
          </a:p>
          <a:p>
            <a:r>
              <a:t>Notre vidéo respecte scrupuleusement les exigences du cahier des charges :</a:t>
            </a:r>
          </a:p>
          <a:p>
            <a:r>
              <a:t>Exactement 60 secondes, filmée en continu sans aucune coupe.</a:t>
            </a:r>
          </a:p>
          <a:p>
            <a:r>
              <a:t>On y observe successivement l'état nominal, le déclenchement de l'attaque depuis la machine Red Team, la prise en charge immédiate par notre détecteur AIOps, le travail silencieux du moteur de remédiation, et enfin la réactivation immédiate attestée par un paiement validé.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[GOUVERNANCE EBIOS RM - 5:15 à 5:45]</a:t>
            </a:r>
          </a:p>
          <a:p>
            <a:r>
              <a:t>La résilience technique ne vaut que si elle sert les priorités stratégiques de l'entreprise.</a:t>
            </a:r>
          </a:p>
          <a:p>
            <a:r>
              <a:t>Nous avons structuré notre gestion des risques selon la méthodologie de référence de l'ANSSI : EBIOS Risk Manager, articulée en cinq ateliers.</a:t>
            </a:r>
          </a:p>
          <a:p>
            <a:r>
              <a:t>Nous avons identifié les événements redoutés majeurs : l'arrêt des encaissements et la perte de traçabilité bancaire.</a:t>
            </a:r>
          </a:p>
          <a:p>
            <a:r>
              <a:t>Notre démonstrateur technique concrétise directement le traitement des risques de l'Atelier 5 : le risque d'indisponibilité prolongée est neutralisé par le couplage WAF et remédiation autonome Zero-Touch.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[RÉGLEMENTATION DORA &amp; NIS2 - 5:45 à 6:15]</a:t>
            </a:r>
          </a:p>
          <a:p>
            <a:r>
              <a:t>Notre architecture s'inscrit en totale conformité avec les réglementations européennes majeures.</a:t>
            </a:r>
          </a:p>
          <a:p>
            <a:r>
              <a:t>DORA, en vigueur depuis 2025, impose aux institutions financières des obligations précises de résilience opérationnelle numérique : notre système répond directement à l'article 6 sur la redondance et à l'article 24 sur les tests d'intrusion.</a:t>
            </a:r>
          </a:p>
          <a:p>
            <a:r>
              <a:t>NIS2 renforce la responsabilité des organes de gouvernance et impose la traçabilité intégrale des incidents : notre stack Loki/Prometheus garantit l'auditabilité exigée en cas d'enquête post-incident.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[PCA/PRA &amp; RECOMMANDATIONS STRATÉGIQUES - 6:15 à 6:45]</a:t>
            </a:r>
          </a:p>
          <a:p>
            <a:r>
              <a:t>Sur le plan du Plan de Continuité et de Reprise d'Activité, les chiffres parlent d'eux-mêmes :</a:t>
            </a:r>
          </a:p>
          <a:p>
            <a:r>
              <a:t>Notre RTO passe de plus de 30 minutes en manuel à moins de 20 secondes en automatique.</a:t>
            </a:r>
          </a:p>
          <a:p>
            <a:r>
              <a:t>Notre RPO est nul : aucune transaction bancaire n'est perdue.</a:t>
            </a:r>
          </a:p>
          <a:p>
            <a:r>
              <a:t>Si nous devions transposer ce prototype dans un grand établissement financier, nous recommanderions à la direction trois axes majeurs : le déploiement multi-régions actif-actif, l'intégration du Chaos Engineering au cœur du pipeline CI/CD, et la généralisation du modèle AIOps.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[ENGAGEMENT DU CONSORTIUM - 6:45 à 7:15]</a:t>
            </a:r>
          </a:p>
          <a:p>
            <a:r>
              <a:t>Ce projet a été réalisé en mode commando au fil d'un sprint intensif de quatre jours.</a:t>
            </a:r>
          </a:p>
          <a:p>
            <a:r>
              <a:t>Chaque membre du consortium a pris en charge un domaine d'expertise précis, tout en conservant une vision transverse de bout en bout.</a:t>
            </a:r>
          </a:p>
          <a:p>
            <a:r>
              <a:t>Concernant l'utilisation des outils d'IA générative autorisés dans le sujet : nous avons exercé une relecture et un durcissement critiques sur chaque fichier. L'intégralité des microservices et des scripts est couverte par notre suite de tests automatisés pytest.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DÉMO LIVE &amp; QUESTIONS JURY]</a:t>
            </a:r>
          </a:p>
          <a:p>
            <a:r>
              <a:t>Nous vous remercions pour votre écoute.</a:t>
            </a:r>
          </a:p>
          <a:p>
            <a:r>
              <a:t>Nous passons immédiatement à la démonstration en direct sur nos postes :</a:t>
            </a:r>
          </a:p>
          <a:p>
            <a:r>
              <a:t>1. Sur le PC Hôte, nous observons le terminal de paiement et le tableau de bord de supervision SOC.</a:t>
            </a:r>
          </a:p>
          <a:p>
            <a:r>
              <a:t>2. Depuis le PC Attaquant distinct, nous déclenchons l'attaque en direct.</a:t>
            </a:r>
          </a:p>
          <a:p>
            <a:r>
              <a:t>3. Observez la détection instantanée de l'Isolation Forest et la reprise autonome par le moteur de remédiation, certifiée par l'émission réussie d'une transaction.</a:t>
            </a:r>
          </a:p>
          <a:p>
            <a:r>
              <a:t>Nous sommes à votre disposition pour répondre à toutes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261E48"/>
          </a:solidFill>
          <a:ln w="254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88720" y="1188720"/>
            <a:ext cx="4114800" cy="411480"/>
          </a:xfrm>
          <a:prstGeom prst="roundRect">
            <a:avLst/>
          </a:prstGeom>
          <a:solidFill>
            <a:srgbClr val="A1A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61E48"/>
                </a:solidFill>
                <a:latin typeface="Montserrat"/>
              </a:defRPr>
            </a:pPr>
            <a:r>
              <a:t>DIRECTION NATIONALE DE LA SÛRETÉ NUMÉRIQUE</a:t>
            </a:r>
          </a:p>
        </p:txBody>
      </p:sp>
      <p:sp>
        <p:nvSpPr>
          <p:cNvPr id="5" name="TextBox 4"/>
          <p:cNvSpPr txBox="1"/>
          <p:nvPr/>
        </p:nvSpPr>
        <p:spPr>
          <a:xfrm>
            <a:off x="1188720" y="1828800"/>
            <a:ext cx="9784080" cy="2011680"/>
          </a:xfrm>
          <a:prstGeom prst="rect">
            <a:avLst/>
          </a:prstGeom>
          <a:noFill/>
        </p:spPr>
        <p:txBody>
          <a:bodyPr wrap="square">
            <a:spAutoFit/>
          </a:bodyPr>
          <a:lstStyle/>
          <a:p>
            <a:pPr>
              <a:defRPr sz="3600" b="1">
                <a:solidFill>
                  <a:srgbClr val="FFFFFF"/>
                </a:solidFill>
                <a:latin typeface="Montserrat"/>
              </a:defRPr>
            </a:pPr>
            <a:r>
              <a:t>PROJECT RESILIENCE-ALPHA</a:t>
            </a:r>
          </a:p>
          <a:p>
            <a:pPr>
              <a:defRPr sz="1600" i="1">
                <a:solidFill>
                  <a:srgbClr val="E4E6F3"/>
                </a:solidFill>
                <a:latin typeface="Montserrat"/>
              </a:defRPr>
            </a:pPr>
            <a:r>
              <a:t>Cyber-Résilience Autonome &amp; Reprise sans Intervention Humaine (Zero-Touch Recovery)</a:t>
            </a:r>
          </a:p>
          <a:p>
            <a:pPr>
              <a:defRPr sz="1300">
                <a:solidFill>
                  <a:srgbClr val="A1A6D4"/>
                </a:solidFill>
                <a:latin typeface="Montserrat"/>
              </a:defRPr>
            </a:pPr>
            <a:r>
              <a:t>« Tout système finit par tomber. La vraie question : le vôtre saura-t-il se relever seul ? »</a:t>
            </a:r>
          </a:p>
        </p:txBody>
      </p:sp>
      <p:sp>
        <p:nvSpPr>
          <p:cNvPr id="6" name="Rounded Rectangle 5"/>
          <p:cNvSpPr/>
          <p:nvPr/>
        </p:nvSpPr>
        <p:spPr>
          <a:xfrm>
            <a:off x="1188720" y="4389120"/>
            <a:ext cx="1874519" cy="1280160"/>
          </a:xfrm>
          <a:prstGeom prst="roundRect">
            <a:avLst/>
          </a:prstGeom>
          <a:solidFill>
            <a:srgbClr val="30285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526280"/>
            <a:ext cx="1691639" cy="1005840"/>
          </a:xfrm>
          <a:prstGeom prst="rect">
            <a:avLst/>
          </a:prstGeom>
          <a:noFill/>
        </p:spPr>
        <p:txBody>
          <a:bodyPr wrap="square">
            <a:spAutoFit/>
          </a:bodyPr>
          <a:lstStyle/>
          <a:p>
            <a:pPr>
              <a:defRPr sz="1400" b="1">
                <a:solidFill>
                  <a:srgbClr val="FFFFFF"/>
                </a:solidFill>
                <a:latin typeface="Montserrat"/>
              </a:defRPr>
            </a:pPr>
            <a:r>
              <a:t>Théo</a:t>
            </a:r>
          </a:p>
          <a:p>
            <a:pPr>
              <a:defRPr sz="950">
                <a:solidFill>
                  <a:srgbClr val="E4E6F3"/>
                </a:solidFill>
                <a:latin typeface="Montserrat"/>
              </a:defRPr>
            </a:pPr>
            <a:r>
              <a:t>Architecture &amp; Orchestration K8s</a:t>
            </a:r>
          </a:p>
        </p:txBody>
      </p:sp>
      <p:sp>
        <p:nvSpPr>
          <p:cNvPr id="8" name="Rounded Rectangle 7"/>
          <p:cNvSpPr/>
          <p:nvPr/>
        </p:nvSpPr>
        <p:spPr>
          <a:xfrm>
            <a:off x="3172968" y="4389120"/>
            <a:ext cx="1874519" cy="1280160"/>
          </a:xfrm>
          <a:prstGeom prst="roundRect">
            <a:avLst/>
          </a:prstGeom>
          <a:solidFill>
            <a:srgbClr val="30285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64408" y="4526280"/>
            <a:ext cx="1691639" cy="1005840"/>
          </a:xfrm>
          <a:prstGeom prst="rect">
            <a:avLst/>
          </a:prstGeom>
          <a:noFill/>
        </p:spPr>
        <p:txBody>
          <a:bodyPr wrap="square">
            <a:spAutoFit/>
          </a:bodyPr>
          <a:lstStyle/>
          <a:p>
            <a:pPr>
              <a:defRPr sz="1400" b="1">
                <a:solidFill>
                  <a:srgbClr val="FFFFFF"/>
                </a:solidFill>
                <a:latin typeface="Montserrat"/>
              </a:defRPr>
            </a:pPr>
            <a:r>
              <a:t>Mael</a:t>
            </a:r>
          </a:p>
          <a:p>
            <a:pPr>
              <a:defRPr sz="950">
                <a:solidFill>
                  <a:srgbClr val="E4E6F3"/>
                </a:solidFill>
                <a:latin typeface="Montserrat"/>
              </a:defRPr>
            </a:pPr>
            <a:r>
              <a:t>Développement API &amp; Microservices</a:t>
            </a:r>
          </a:p>
        </p:txBody>
      </p:sp>
      <p:sp>
        <p:nvSpPr>
          <p:cNvPr id="10" name="Rounded Rectangle 9"/>
          <p:cNvSpPr/>
          <p:nvPr/>
        </p:nvSpPr>
        <p:spPr>
          <a:xfrm>
            <a:off x="5157216" y="4389120"/>
            <a:ext cx="1874519" cy="1280160"/>
          </a:xfrm>
          <a:prstGeom prst="roundRect">
            <a:avLst/>
          </a:prstGeom>
          <a:solidFill>
            <a:srgbClr val="30285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48655" y="4526280"/>
            <a:ext cx="1691639" cy="1005840"/>
          </a:xfrm>
          <a:prstGeom prst="rect">
            <a:avLst/>
          </a:prstGeom>
          <a:noFill/>
        </p:spPr>
        <p:txBody>
          <a:bodyPr wrap="square">
            <a:spAutoFit/>
          </a:bodyPr>
          <a:lstStyle/>
          <a:p>
            <a:pPr>
              <a:defRPr sz="1400" b="1">
                <a:solidFill>
                  <a:srgbClr val="FFFFFF"/>
                </a:solidFill>
                <a:latin typeface="Montserrat"/>
              </a:defRPr>
            </a:pPr>
            <a:r>
              <a:t>Flora</a:t>
            </a:r>
          </a:p>
          <a:p>
            <a:pPr>
              <a:defRPr sz="950">
                <a:solidFill>
                  <a:srgbClr val="E4E6F3"/>
                </a:solidFill>
                <a:latin typeface="Montserrat"/>
              </a:defRPr>
            </a:pPr>
            <a:r>
              <a:t>Cybersécurité, WAF &amp; Red Team</a:t>
            </a:r>
          </a:p>
        </p:txBody>
      </p:sp>
      <p:sp>
        <p:nvSpPr>
          <p:cNvPr id="12" name="Rounded Rectangle 11"/>
          <p:cNvSpPr/>
          <p:nvPr/>
        </p:nvSpPr>
        <p:spPr>
          <a:xfrm>
            <a:off x="7141464" y="4389120"/>
            <a:ext cx="1874519" cy="1280160"/>
          </a:xfrm>
          <a:prstGeom prst="roundRect">
            <a:avLst/>
          </a:prstGeom>
          <a:solidFill>
            <a:srgbClr val="30285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2903" y="4526280"/>
            <a:ext cx="1691639" cy="1005840"/>
          </a:xfrm>
          <a:prstGeom prst="rect">
            <a:avLst/>
          </a:prstGeom>
          <a:noFill/>
        </p:spPr>
        <p:txBody>
          <a:bodyPr wrap="square">
            <a:spAutoFit/>
          </a:bodyPr>
          <a:lstStyle/>
          <a:p>
            <a:pPr>
              <a:defRPr sz="1400" b="1">
                <a:solidFill>
                  <a:srgbClr val="FFFFFF"/>
                </a:solidFill>
                <a:latin typeface="Montserrat"/>
              </a:defRPr>
            </a:pPr>
            <a:r>
              <a:t>Fely</a:t>
            </a:r>
          </a:p>
          <a:p>
            <a:pPr>
              <a:defRPr sz="950">
                <a:solidFill>
                  <a:srgbClr val="E4E6F3"/>
                </a:solidFill>
                <a:latin typeface="Montserrat"/>
              </a:defRPr>
            </a:pPr>
            <a:r>
              <a:t>AIOps Machine Learning &amp; Détection</a:t>
            </a:r>
          </a:p>
        </p:txBody>
      </p:sp>
      <p:sp>
        <p:nvSpPr>
          <p:cNvPr id="14" name="Rounded Rectangle 13"/>
          <p:cNvSpPr/>
          <p:nvPr/>
        </p:nvSpPr>
        <p:spPr>
          <a:xfrm>
            <a:off x="9125712" y="4389120"/>
            <a:ext cx="1874519" cy="1280160"/>
          </a:xfrm>
          <a:prstGeom prst="roundRect">
            <a:avLst/>
          </a:prstGeom>
          <a:solidFill>
            <a:srgbClr val="30285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17152" y="4526280"/>
            <a:ext cx="1691639" cy="1005840"/>
          </a:xfrm>
          <a:prstGeom prst="rect">
            <a:avLst/>
          </a:prstGeom>
          <a:noFill/>
        </p:spPr>
        <p:txBody>
          <a:bodyPr wrap="square">
            <a:spAutoFit/>
          </a:bodyPr>
          <a:lstStyle/>
          <a:p>
            <a:pPr>
              <a:defRPr sz="1400" b="1">
                <a:solidFill>
                  <a:srgbClr val="FFFFFF"/>
                </a:solidFill>
                <a:latin typeface="Montserrat"/>
              </a:defRPr>
            </a:pPr>
            <a:r>
              <a:t>Aymeric</a:t>
            </a:r>
          </a:p>
          <a:p>
            <a:pPr>
              <a:defRPr sz="950">
                <a:solidFill>
                  <a:srgbClr val="E4E6F3"/>
                </a:solidFill>
                <a:latin typeface="Montserrat"/>
              </a:defRPr>
            </a:pPr>
            <a:r>
              <a:t>Gouvernance EBIOS RM, DORA &amp; PCA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Le Défi National : Continuité Métier &amp; Zero-Touch Recovery</a:t>
            </a:r>
          </a:p>
        </p:txBody>
      </p:sp>
      <p:sp>
        <p:nvSpPr>
          <p:cNvPr id="5" name="Rounded Rectangle 4"/>
          <p:cNvSpPr/>
          <p:nvPr/>
        </p:nvSpPr>
        <p:spPr>
          <a:xfrm>
            <a:off x="731520" y="1371600"/>
            <a:ext cx="3383280" cy="475488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3017520" cy="4389120"/>
          </a:xfrm>
          <a:prstGeom prst="rect">
            <a:avLst/>
          </a:prstGeom>
          <a:noFill/>
        </p:spPr>
        <p:txBody>
          <a:bodyPr wrap="square">
            <a:spAutoFit/>
          </a:bodyPr>
          <a:lstStyle/>
          <a:p>
            <a:pPr>
              <a:defRPr sz="1600" b="1">
                <a:solidFill>
                  <a:srgbClr val="261E48"/>
                </a:solidFill>
                <a:latin typeface="Montserrat"/>
              </a:defRPr>
            </a:pPr>
            <a:r>
              <a:t>1. Contexte Bancaire Critique</a:t>
            </a:r>
          </a:p>
          <a:p>
            <a:pPr>
              <a:defRPr sz="1150">
                <a:solidFill>
                  <a:srgbClr val="261E48"/>
                </a:solidFill>
                <a:latin typeface="Montserrat"/>
              </a:defRPr>
            </a:pPr>
            <a:r>
              <a:t>• Plateforme transactionnelle soumise à des incidents récurrents.</a:t>
            </a:r>
          </a:p>
          <a:p>
            <a:pPr>
              <a:defRPr sz="1150">
                <a:solidFill>
                  <a:srgbClr val="261E48"/>
                </a:solidFill>
                <a:latin typeface="Montserrat"/>
              </a:defRPr>
            </a:pPr>
            <a:r>
              <a:t>• Interventions manuelles lentes, complexes et difficilement reproductibles.</a:t>
            </a:r>
          </a:p>
          <a:p>
            <a:pPr>
              <a:defRPr sz="1150">
                <a:solidFill>
                  <a:srgbClr val="261E48"/>
                </a:solidFill>
                <a:latin typeface="Montserrat"/>
              </a:defRPr>
            </a:pPr>
            <a:r>
              <a:t>• Perte financière immédiate, rupture de confiance clients et partenaires.</a:t>
            </a:r>
          </a:p>
          <a:p>
            <a:pPr>
              <a:defRPr sz="1150">
                <a:solidFill>
                  <a:srgbClr val="261E48"/>
                </a:solidFill>
                <a:latin typeface="Montserrat"/>
              </a:defRPr>
            </a:pPr>
            <a:r>
              <a:t>• Obligations de conformité renforcées (DORA &amp; NIS2) imposant une résilience démontrée.</a:t>
            </a:r>
          </a:p>
        </p:txBody>
      </p:sp>
      <p:sp>
        <p:nvSpPr>
          <p:cNvPr id="7" name="Rounded Rectangle 6"/>
          <p:cNvSpPr/>
          <p:nvPr/>
        </p:nvSpPr>
        <p:spPr>
          <a:xfrm>
            <a:off x="4389120" y="1371600"/>
            <a:ext cx="3383280" cy="475488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554480"/>
            <a:ext cx="3017520" cy="4389120"/>
          </a:xfrm>
          <a:prstGeom prst="rect">
            <a:avLst/>
          </a:prstGeom>
          <a:noFill/>
        </p:spPr>
        <p:txBody>
          <a:bodyPr wrap="square">
            <a:spAutoFit/>
          </a:bodyPr>
          <a:lstStyle/>
          <a:p>
            <a:pPr>
              <a:defRPr sz="1600" b="1">
                <a:solidFill>
                  <a:srgbClr val="261E48"/>
                </a:solidFill>
                <a:latin typeface="Montserrat"/>
              </a:defRPr>
            </a:pPr>
            <a:r>
              <a:t>2. Le Défi DNSN</a:t>
            </a:r>
          </a:p>
          <a:p>
            <a:pPr>
              <a:defRPr sz="1150">
                <a:solidFill>
                  <a:srgbClr val="261E48"/>
                </a:solidFill>
                <a:latin typeface="Montserrat"/>
              </a:defRPr>
            </a:pPr>
            <a:r>
              <a:t>• SI de paiement conteneurisé complet (Front React, API REST, Auth JWT, PostgreSQL).</a:t>
            </a:r>
          </a:p>
          <a:p>
            <a:pPr>
              <a:defRPr sz="1150">
                <a:solidFill>
                  <a:srgbClr val="261E48"/>
                </a:solidFill>
                <a:latin typeface="Montserrat"/>
              </a:defRPr>
            </a:pPr>
            <a:r>
              <a:t>• Attaque réelle exécutée depuis un PC Attaquant physiquement découplé.</a:t>
            </a:r>
          </a:p>
          <a:p>
            <a:pPr>
              <a:defRPr sz="1150">
                <a:solidFill>
                  <a:srgbClr val="261E48"/>
                </a:solidFill>
                <a:latin typeface="Montserrat"/>
              </a:defRPr>
            </a:pPr>
            <a:r>
              <a:t>• Détection par Machine Learning (Isolation Forest) et non simples seuils fixes.</a:t>
            </a:r>
          </a:p>
          <a:p>
            <a:pPr>
              <a:defRPr sz="1150">
                <a:solidFill>
                  <a:srgbClr val="261E48"/>
                </a:solidFill>
                <a:latin typeface="Montserrat"/>
              </a:defRPr>
            </a:pPr>
            <a:r>
              <a:t>• Remédiation autonome : auto-guérison sans intervention humaine (Zero-Touch).</a:t>
            </a:r>
          </a:p>
        </p:txBody>
      </p:sp>
      <p:sp>
        <p:nvSpPr>
          <p:cNvPr id="9" name="Rounded Rectangle 8"/>
          <p:cNvSpPr/>
          <p:nvPr/>
        </p:nvSpPr>
        <p:spPr>
          <a:xfrm>
            <a:off x="8046720" y="1371600"/>
            <a:ext cx="3383280" cy="4754880"/>
          </a:xfrm>
          <a:prstGeom prst="roundRect">
            <a:avLst/>
          </a:prstGeom>
          <a:solidFill>
            <a:srgbClr val="261E48"/>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554480"/>
            <a:ext cx="3017520" cy="4389120"/>
          </a:xfrm>
          <a:prstGeom prst="rect">
            <a:avLst/>
          </a:prstGeom>
          <a:noFill/>
        </p:spPr>
        <p:txBody>
          <a:bodyPr wrap="square">
            <a:spAutoFit/>
          </a:bodyPr>
          <a:lstStyle/>
          <a:p>
            <a:pPr>
              <a:defRPr sz="1600" b="1">
                <a:solidFill>
                  <a:srgbClr val="FFFFFF"/>
                </a:solidFill>
                <a:latin typeface="Montserrat"/>
              </a:defRPr>
            </a:pPr>
            <a:r>
              <a:t>3. Règle d'Évaluation &amp; Preuve</a:t>
            </a:r>
          </a:p>
          <a:p>
            <a:pPr>
              <a:defRPr sz="1200" b="1">
                <a:solidFill>
                  <a:srgbClr val="A1A6D4"/>
                </a:solidFill>
                <a:latin typeface="Montserrat"/>
              </a:defRPr>
            </a:pPr>
            <a:r>
              <a:t>Zéro intervention humaine :</a:t>
            </a:r>
          </a:p>
          <a:p>
            <a:pPr>
              <a:defRPr sz="1100">
                <a:solidFill>
                  <a:srgbClr val="FFFFFF"/>
                </a:solidFill>
                <a:latin typeface="Montserrat"/>
              </a:defRPr>
            </a:pPr>
            <a:r>
              <a:t>Toute action manuelle pendant la démonstration entraîne immédiatement 0/5 sur l'axe remédiation.</a:t>
            </a:r>
          </a:p>
          <a:p>
            <a:pPr>
              <a:defRPr sz="1200" b="1">
                <a:solidFill>
                  <a:srgbClr val="A1A6D4"/>
                </a:solidFill>
                <a:latin typeface="Montserrat"/>
              </a:defRPr>
            </a:pPr>
            <a:r>
              <a:t>Preuve par la transaction :</a:t>
            </a:r>
          </a:p>
          <a:p>
            <a:pPr>
              <a:defRPr sz="1100">
                <a:solidFill>
                  <a:srgbClr val="FFFFFF"/>
                </a:solidFill>
                <a:latin typeface="Montserrat"/>
              </a:defRPr>
            </a:pPr>
            <a:r>
              <a:t>Un redémarrage de pod ne suffit pas. Le système doit émettre un nouveau paiement réussi après reprise.</a:t>
            </a:r>
          </a:p>
          <a:p>
            <a:pPr>
              <a:defRPr sz="1200" b="1">
                <a:solidFill>
                  <a:srgbClr val="A1A6D4"/>
                </a:solidFill>
                <a:latin typeface="Montserrat"/>
              </a:defRPr>
            </a:pPr>
            <a:r>
              <a:t>Visibilité continue :</a:t>
            </a:r>
          </a:p>
          <a:p>
            <a:pPr>
              <a:defRPr sz="1100">
                <a:solidFill>
                  <a:srgbClr val="FFFFFF"/>
                </a:solidFill>
                <a:latin typeface="Montserrat"/>
              </a:defRPr>
            </a:pPr>
            <a:r>
              <a:t>État du service affiché en temps réel : avant, pendant et après l'incident.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Architecture Globale : L'Interconnexion des 5 Piliers</a:t>
            </a:r>
          </a:p>
        </p:txBody>
      </p:sp>
      <p:sp>
        <p:nvSpPr>
          <p:cNvPr id="5" name="Rounded Rectangle 4"/>
          <p:cNvSpPr/>
          <p:nvPr/>
        </p:nvSpPr>
        <p:spPr>
          <a:xfrm>
            <a:off x="731520" y="1371600"/>
            <a:ext cx="2029968" cy="4023360"/>
          </a:xfrm>
          <a:prstGeom prst="roundRect">
            <a:avLst/>
          </a:prstGeom>
          <a:solidFill>
            <a:srgbClr val="FFFFFF"/>
          </a:solidFill>
          <a:ln w="25400">
            <a:solidFill>
              <a:srgbClr val="261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2029968" cy="73152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Montserrat"/>
              </a:defRPr>
            </a:pPr>
            <a:r>
              <a:t>DEV</a:t>
            </a:r>
          </a:p>
          <a:p>
            <a:pPr algn="ctr">
              <a:defRPr sz="850">
                <a:solidFill>
                  <a:srgbClr val="E4E6F3"/>
                </a:solidFill>
                <a:latin typeface="Montserrat"/>
              </a:defRPr>
            </a:pPr>
            <a:r>
              <a:t>Microservices &amp; UI</a:t>
            </a:r>
          </a:p>
        </p:txBody>
      </p:sp>
      <p:sp>
        <p:nvSpPr>
          <p:cNvPr id="7" name="TextBox 6"/>
          <p:cNvSpPr txBox="1"/>
          <p:nvPr/>
        </p:nvSpPr>
        <p:spPr>
          <a:xfrm>
            <a:off x="822960" y="2194560"/>
            <a:ext cx="1847088" cy="3108960"/>
          </a:xfrm>
          <a:prstGeom prst="rect">
            <a:avLst/>
          </a:prstGeom>
          <a:noFill/>
        </p:spPr>
        <p:txBody>
          <a:bodyPr wrap="square">
            <a:spAutoFit/>
          </a:bodyPr>
          <a:lstStyle/>
          <a:p>
            <a:pPr>
              <a:defRPr sz="950">
                <a:solidFill>
                  <a:srgbClr val="261E48"/>
                </a:solidFill>
                <a:latin typeface="Montserrat"/>
              </a:defRPr>
            </a:pPr>
            <a:r>
              <a:t>✓ FastAPI Payment API</a:t>
            </a:r>
          </a:p>
          <a:p>
            <a:pPr>
              <a:defRPr sz="950">
                <a:solidFill>
                  <a:srgbClr val="261E48"/>
                </a:solidFill>
                <a:latin typeface="Montserrat"/>
              </a:defRPr>
            </a:pPr>
            <a:r>
              <a:t>✓ Auth Service JWT Bearer</a:t>
            </a:r>
          </a:p>
          <a:p>
            <a:pPr>
              <a:defRPr sz="950">
                <a:solidFill>
                  <a:srgbClr val="261E48"/>
                </a:solidFill>
                <a:latin typeface="Montserrat"/>
              </a:defRPr>
            </a:pPr>
            <a:r>
              <a:t>✓ Dashboard React + Tailwind</a:t>
            </a:r>
          </a:p>
          <a:p>
            <a:pPr>
              <a:defRPr sz="950">
                <a:solidFill>
                  <a:srgbClr val="261E48"/>
                </a:solidFill>
                <a:latin typeface="Montserrat"/>
              </a:defRPr>
            </a:pPr>
            <a:r>
              <a:t>✓ PostgreSQL transactionnel</a:t>
            </a:r>
          </a:p>
          <a:p>
            <a:pPr>
              <a:defRPr sz="950">
                <a:solidFill>
                  <a:srgbClr val="261E48"/>
                </a:solidFill>
                <a:latin typeface="Montserrat"/>
              </a:defRPr>
            </a:pPr>
            <a:r>
              <a:t>✓ Remediation Engine</a:t>
            </a:r>
          </a:p>
        </p:txBody>
      </p:sp>
      <p:sp>
        <p:nvSpPr>
          <p:cNvPr id="8" name="Rounded Rectangle 7"/>
          <p:cNvSpPr/>
          <p:nvPr/>
        </p:nvSpPr>
        <p:spPr>
          <a:xfrm>
            <a:off x="2898648" y="1371600"/>
            <a:ext cx="2029968" cy="4023360"/>
          </a:xfrm>
          <a:prstGeom prst="roundRect">
            <a:avLst/>
          </a:prstGeom>
          <a:solidFill>
            <a:srgbClr val="FFFFFF"/>
          </a:solidFill>
          <a:ln w="25400">
            <a:solidFill>
              <a:srgbClr val="261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98648" y="1371600"/>
            <a:ext cx="2029968" cy="73152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Montserrat"/>
              </a:defRPr>
            </a:pPr>
            <a:r>
              <a:t>INFRA</a:t>
            </a:r>
          </a:p>
          <a:p>
            <a:pPr algn="ctr">
              <a:defRPr sz="850">
                <a:solidFill>
                  <a:srgbClr val="E4E6F3"/>
                </a:solidFill>
                <a:latin typeface="Montserrat"/>
              </a:defRPr>
            </a:pPr>
            <a:r>
              <a:t>Kubernetes &amp; Observabilité</a:t>
            </a:r>
          </a:p>
        </p:txBody>
      </p:sp>
      <p:sp>
        <p:nvSpPr>
          <p:cNvPr id="10" name="TextBox 9"/>
          <p:cNvSpPr txBox="1"/>
          <p:nvPr/>
        </p:nvSpPr>
        <p:spPr>
          <a:xfrm>
            <a:off x="2990088" y="2194560"/>
            <a:ext cx="1847088" cy="3108960"/>
          </a:xfrm>
          <a:prstGeom prst="rect">
            <a:avLst/>
          </a:prstGeom>
          <a:noFill/>
        </p:spPr>
        <p:txBody>
          <a:bodyPr wrap="square">
            <a:spAutoFit/>
          </a:bodyPr>
          <a:lstStyle/>
          <a:p>
            <a:pPr>
              <a:defRPr sz="950">
                <a:solidFill>
                  <a:srgbClr val="261E48"/>
                </a:solidFill>
                <a:latin typeface="Montserrat"/>
              </a:defRPr>
            </a:pPr>
            <a:r>
              <a:t>✓ Helm Chart officiel paramétrable</a:t>
            </a:r>
          </a:p>
          <a:p>
            <a:pPr>
              <a:defRPr sz="950">
                <a:solidFill>
                  <a:srgbClr val="261E48"/>
                </a:solidFill>
                <a:latin typeface="Montserrat"/>
              </a:defRPr>
            </a:pPr>
            <a:r>
              <a:t>✓ 3 réplicas API + HPA élastique</a:t>
            </a:r>
          </a:p>
          <a:p>
            <a:pPr>
              <a:defRPr sz="950">
                <a:solidFill>
                  <a:srgbClr val="261E48"/>
                </a:solidFill>
                <a:latin typeface="Montserrat"/>
              </a:defRPr>
            </a:pPr>
            <a:r>
              <a:t>✓ NetworkPolicies &amp; Kind Ingress</a:t>
            </a:r>
          </a:p>
          <a:p>
            <a:pPr>
              <a:defRPr sz="950">
                <a:solidFill>
                  <a:srgbClr val="261E48"/>
                </a:solidFill>
                <a:latin typeface="Montserrat"/>
              </a:defRPr>
            </a:pPr>
            <a:r>
              <a:t>✓ Prometheus (scrape 1s)</a:t>
            </a:r>
          </a:p>
          <a:p>
            <a:pPr>
              <a:defRPr sz="950">
                <a:solidFill>
                  <a:srgbClr val="261E48"/>
                </a:solidFill>
                <a:latin typeface="Montserrat"/>
              </a:defRPr>
            </a:pPr>
            <a:r>
              <a:t>✓ Grafana &amp; Loki centralisé</a:t>
            </a:r>
          </a:p>
        </p:txBody>
      </p:sp>
      <p:sp>
        <p:nvSpPr>
          <p:cNvPr id="11" name="Rounded Rectangle 10"/>
          <p:cNvSpPr/>
          <p:nvPr/>
        </p:nvSpPr>
        <p:spPr>
          <a:xfrm>
            <a:off x="5065776" y="1371600"/>
            <a:ext cx="2029968" cy="402336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65776" y="1371600"/>
            <a:ext cx="2029968" cy="7315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Montserrat"/>
              </a:defRPr>
            </a:pPr>
            <a:r>
              <a:t>CYBER</a:t>
            </a:r>
          </a:p>
          <a:p>
            <a:pPr algn="ctr">
              <a:defRPr sz="850">
                <a:solidFill>
                  <a:srgbClr val="E4E6F3"/>
                </a:solidFill>
                <a:latin typeface="Montserrat"/>
              </a:defRPr>
            </a:pPr>
            <a:r>
              <a:t>Défense en Profondeur</a:t>
            </a:r>
          </a:p>
        </p:txBody>
      </p:sp>
      <p:sp>
        <p:nvSpPr>
          <p:cNvPr id="13" name="TextBox 12"/>
          <p:cNvSpPr txBox="1"/>
          <p:nvPr/>
        </p:nvSpPr>
        <p:spPr>
          <a:xfrm>
            <a:off x="5157216" y="2194560"/>
            <a:ext cx="1847088" cy="3108960"/>
          </a:xfrm>
          <a:prstGeom prst="rect">
            <a:avLst/>
          </a:prstGeom>
          <a:noFill/>
        </p:spPr>
        <p:txBody>
          <a:bodyPr wrap="square">
            <a:spAutoFit/>
          </a:bodyPr>
          <a:lstStyle/>
          <a:p>
            <a:pPr>
              <a:defRPr sz="950">
                <a:solidFill>
                  <a:srgbClr val="261E48"/>
                </a:solidFill>
                <a:latin typeface="Montserrat"/>
              </a:defRPr>
            </a:pPr>
            <a:r>
              <a:t>✓ WAF Nginx durci L7</a:t>
            </a:r>
          </a:p>
          <a:p>
            <a:pPr>
              <a:defRPr sz="950">
                <a:solidFill>
                  <a:srgbClr val="261E48"/>
                </a:solidFill>
                <a:latin typeface="Montserrat"/>
              </a:defRPr>
            </a:pPr>
            <a:r>
              <a:t>✓ Anti-Scanner OWASP (403)</a:t>
            </a:r>
          </a:p>
          <a:p>
            <a:pPr>
              <a:defRPr sz="950">
                <a:solidFill>
                  <a:srgbClr val="261E48"/>
                </a:solidFill>
                <a:latin typeface="Montserrat"/>
              </a:defRPr>
            </a:pPr>
            <a:r>
              <a:t>✓ Rate Limiting 5 req/s (429)</a:t>
            </a:r>
          </a:p>
          <a:p>
            <a:pPr>
              <a:defRPr sz="950">
                <a:solidFill>
                  <a:srgbClr val="261E48"/>
                </a:solidFill>
                <a:latin typeface="Montserrat"/>
              </a:defRPr>
            </a:pPr>
            <a:r>
              <a:t>✓ Console Red Team découplée</a:t>
            </a:r>
          </a:p>
          <a:p>
            <a:pPr>
              <a:defRPr sz="950">
                <a:solidFill>
                  <a:srgbClr val="261E48"/>
                </a:solidFill>
                <a:latin typeface="Montserrat"/>
              </a:defRPr>
            </a:pPr>
            <a:r>
              <a:t>✓ Cloisonnement réseau strict</a:t>
            </a:r>
          </a:p>
        </p:txBody>
      </p:sp>
      <p:sp>
        <p:nvSpPr>
          <p:cNvPr id="14" name="Rounded Rectangle 13"/>
          <p:cNvSpPr/>
          <p:nvPr/>
        </p:nvSpPr>
        <p:spPr>
          <a:xfrm>
            <a:off x="7232904" y="1371600"/>
            <a:ext cx="2029968" cy="402336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32904" y="1371600"/>
            <a:ext cx="2029968" cy="7315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Montserrat"/>
              </a:defRPr>
            </a:pPr>
            <a:r>
              <a:t>IA / DATA</a:t>
            </a:r>
          </a:p>
          <a:p>
            <a:pPr algn="ctr">
              <a:defRPr sz="850">
                <a:solidFill>
                  <a:srgbClr val="E4E6F3"/>
                </a:solidFill>
                <a:latin typeface="Montserrat"/>
              </a:defRPr>
            </a:pPr>
            <a:r>
              <a:t>AIOps &amp; RAG</a:t>
            </a:r>
          </a:p>
        </p:txBody>
      </p:sp>
      <p:sp>
        <p:nvSpPr>
          <p:cNvPr id="16" name="TextBox 15"/>
          <p:cNvSpPr txBox="1"/>
          <p:nvPr/>
        </p:nvSpPr>
        <p:spPr>
          <a:xfrm>
            <a:off x="7324344" y="2194560"/>
            <a:ext cx="1847088" cy="3108960"/>
          </a:xfrm>
          <a:prstGeom prst="rect">
            <a:avLst/>
          </a:prstGeom>
          <a:noFill/>
        </p:spPr>
        <p:txBody>
          <a:bodyPr wrap="square">
            <a:spAutoFit/>
          </a:bodyPr>
          <a:lstStyle/>
          <a:p>
            <a:pPr>
              <a:defRPr sz="950">
                <a:solidFill>
                  <a:srgbClr val="261E48"/>
                </a:solidFill>
                <a:latin typeface="Montserrat"/>
              </a:defRPr>
            </a:pPr>
            <a:r>
              <a:t>✓ Isolation Forest Scikit-learn</a:t>
            </a:r>
          </a:p>
          <a:p>
            <a:pPr>
              <a:defRPr sz="950">
                <a:solidFill>
                  <a:srgbClr val="261E48"/>
                </a:solidFill>
                <a:latin typeface="Montserrat"/>
              </a:defRPr>
            </a:pPr>
            <a:r>
              <a:t>✓ Vecteur 4D temps réel</a:t>
            </a:r>
          </a:p>
          <a:p>
            <a:pPr>
              <a:defRPr sz="950">
                <a:solidFill>
                  <a:srgbClr val="261E48"/>
                </a:solidFill>
                <a:latin typeface="Montserrat"/>
              </a:defRPr>
            </a:pPr>
            <a:r>
              <a:t>✓ Détection non supervisée</a:t>
            </a:r>
          </a:p>
          <a:p>
            <a:pPr>
              <a:defRPr sz="950">
                <a:solidFill>
                  <a:srgbClr val="261E48"/>
                </a:solidFill>
                <a:latin typeface="Montserrat"/>
              </a:defRPr>
            </a:pPr>
            <a:r>
              <a:t>✓ Webhook d'alerte instantané</a:t>
            </a:r>
          </a:p>
          <a:p>
            <a:pPr>
              <a:defRPr sz="950">
                <a:solidFill>
                  <a:srgbClr val="261E48"/>
                </a:solidFill>
                <a:latin typeface="Montserrat"/>
              </a:defRPr>
            </a:pPr>
            <a:r>
              <a:t>✓ Assistant local Ollama/LangChain</a:t>
            </a:r>
          </a:p>
        </p:txBody>
      </p:sp>
      <p:sp>
        <p:nvSpPr>
          <p:cNvPr id="17" name="Rounded Rectangle 16"/>
          <p:cNvSpPr/>
          <p:nvPr/>
        </p:nvSpPr>
        <p:spPr>
          <a:xfrm>
            <a:off x="9400032" y="1371600"/>
            <a:ext cx="2029968" cy="4023360"/>
          </a:xfrm>
          <a:prstGeom prst="roundRect">
            <a:avLst/>
          </a:prstGeom>
          <a:solidFill>
            <a:srgbClr val="FFFFFF"/>
          </a:solidFill>
          <a:ln w="25400">
            <a:solidFill>
              <a:srgbClr val="261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00032" y="1371600"/>
            <a:ext cx="2029968" cy="73152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Montserrat"/>
              </a:defRPr>
            </a:pPr>
            <a:r>
              <a:t>TRANSFORMATION</a:t>
            </a:r>
          </a:p>
          <a:p>
            <a:pPr algn="ctr">
              <a:defRPr sz="850">
                <a:solidFill>
                  <a:srgbClr val="E4E6F3"/>
                </a:solidFill>
                <a:latin typeface="Montserrat"/>
              </a:defRPr>
            </a:pPr>
            <a:r>
              <a:t>Gouvernance &amp; Risques</a:t>
            </a:r>
          </a:p>
        </p:txBody>
      </p:sp>
      <p:sp>
        <p:nvSpPr>
          <p:cNvPr id="19" name="TextBox 18"/>
          <p:cNvSpPr txBox="1"/>
          <p:nvPr/>
        </p:nvSpPr>
        <p:spPr>
          <a:xfrm>
            <a:off x="9491472" y="2194560"/>
            <a:ext cx="1847088" cy="3108960"/>
          </a:xfrm>
          <a:prstGeom prst="rect">
            <a:avLst/>
          </a:prstGeom>
          <a:noFill/>
        </p:spPr>
        <p:txBody>
          <a:bodyPr wrap="square">
            <a:spAutoFit/>
          </a:bodyPr>
          <a:lstStyle/>
          <a:p>
            <a:pPr>
              <a:defRPr sz="950">
                <a:solidFill>
                  <a:srgbClr val="261E48"/>
                </a:solidFill>
                <a:latin typeface="Montserrat"/>
              </a:defRPr>
            </a:pPr>
            <a:r>
              <a:t>✓ Analyse des risques EBIOS RM</a:t>
            </a:r>
          </a:p>
          <a:p>
            <a:pPr>
              <a:defRPr sz="950">
                <a:solidFill>
                  <a:srgbClr val="261E48"/>
                </a:solidFill>
                <a:latin typeface="Montserrat"/>
              </a:defRPr>
            </a:pPr>
            <a:r>
              <a:t>✓ Conformité DORA (Art. 6, 17, 24)</a:t>
            </a:r>
          </a:p>
          <a:p>
            <a:pPr>
              <a:defRPr sz="950">
                <a:solidFill>
                  <a:srgbClr val="261E48"/>
                </a:solidFill>
                <a:latin typeface="Montserrat"/>
              </a:defRPr>
            </a:pPr>
            <a:r>
              <a:t>✓ Directive NIS2 &amp; Hygiène ANSSI</a:t>
            </a:r>
          </a:p>
          <a:p>
            <a:pPr>
              <a:defRPr sz="950">
                <a:solidFill>
                  <a:srgbClr val="261E48"/>
                </a:solidFill>
                <a:latin typeface="Montserrat"/>
              </a:defRPr>
            </a:pPr>
            <a:r>
              <a:t>✓ PCA/PRA opérationnel</a:t>
            </a:r>
          </a:p>
          <a:p>
            <a:pPr>
              <a:defRPr sz="950">
                <a:solidFill>
                  <a:srgbClr val="261E48"/>
                </a:solidFill>
                <a:latin typeface="Montserrat"/>
              </a:defRPr>
            </a:pPr>
            <a:r>
              <a:t>✓ RTO cible &lt; 30s | RPO = 0</a:t>
            </a:r>
          </a:p>
        </p:txBody>
      </p:sp>
      <p:sp>
        <p:nvSpPr>
          <p:cNvPr id="20" name="Rounded Rectangle 19"/>
          <p:cNvSpPr/>
          <p:nvPr/>
        </p:nvSpPr>
        <p:spPr>
          <a:xfrm>
            <a:off x="731520" y="5532120"/>
            <a:ext cx="10728655" cy="868680"/>
          </a:xfrm>
          <a:prstGeom prst="roundRect">
            <a:avLst/>
          </a:prstGeom>
          <a:solidFill>
            <a:srgbClr val="261E4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596128"/>
            <a:ext cx="10362895" cy="731520"/>
          </a:xfrm>
          <a:prstGeom prst="rect">
            <a:avLst/>
          </a:prstGeom>
          <a:noFill/>
        </p:spPr>
        <p:txBody>
          <a:bodyPr wrap="square">
            <a:spAutoFit/>
          </a:bodyPr>
          <a:lstStyle/>
          <a:p>
            <a:pPr>
              <a:defRPr sz="1050" b="1">
                <a:solidFill>
                  <a:srgbClr val="A1A6D4"/>
                </a:solidFill>
                <a:latin typeface="Montserrat"/>
              </a:defRPr>
            </a:pPr>
            <a:r>
              <a:t>CHAÎNE D'INTERCONNEXION CONTINUE : </a:t>
            </a:r>
          </a:p>
          <a:p>
            <a:pPr>
              <a:defRPr sz="1050">
                <a:solidFill>
                  <a:srgbClr val="FFFFFF"/>
                </a:solidFill>
                <a:latin typeface="Montserrat"/>
              </a:defRPr>
            </a:pPr>
            <a:r>
              <a:t>PC Attaquant (Red Team) ➔ WAF Nginx L7 ➔ API Paiement &amp; K8s ➔ Métriques Prometheus ➔ Détecteur ML AIOps ➔ Webhook Remédiation ➔ Validation Transactionnelle.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Pilier DEV : Architecture Microservices &amp; Supervision SOC</a:t>
            </a:r>
          </a:p>
        </p:txBody>
      </p:sp>
      <p:sp>
        <p:nvSpPr>
          <p:cNvPr id="5" name="Rounded Rectangle 4"/>
          <p:cNvSpPr/>
          <p:nvPr/>
        </p:nvSpPr>
        <p:spPr>
          <a:xfrm>
            <a:off x="731520" y="1371600"/>
            <a:ext cx="5212080"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663440"/>
          </a:xfrm>
          <a:prstGeom prst="rect">
            <a:avLst/>
          </a:prstGeom>
          <a:noFill/>
        </p:spPr>
        <p:txBody>
          <a:bodyPr wrap="square">
            <a:spAutoFit/>
          </a:bodyPr>
          <a:lstStyle/>
          <a:p>
            <a:pPr>
              <a:defRPr sz="1600" b="1">
                <a:solidFill>
                  <a:srgbClr val="261E48"/>
                </a:solidFill>
                <a:latin typeface="Montserrat"/>
              </a:defRPr>
            </a:pPr>
            <a:r>
              <a:t>Microservices Conteneurisés Métier</a:t>
            </a:r>
          </a:p>
          <a:p>
            <a:pPr>
              <a:defRPr sz="1100" b="1">
                <a:solidFill>
                  <a:srgbClr val="261E48"/>
                </a:solidFill>
                <a:latin typeface="Montserrat"/>
              </a:defRPr>
            </a:pPr>
            <a:r>
              <a:t>• payment-api (Python FastAPI) :</a:t>
            </a:r>
          </a:p>
          <a:p>
            <a:pPr>
              <a:defRPr sz="1000">
                <a:solidFill>
                  <a:srgbClr val="646482"/>
                </a:solidFill>
                <a:latin typeface="Montserrat"/>
              </a:defRPr>
            </a:pPr>
            <a:r>
              <a:t>  API transactionnelle asynchrone, traitement des ordres de paiement, écriture PostgreSQL, endpoints /health et /metrics Prometheus.</a:t>
            </a:r>
          </a:p>
          <a:p>
            <a:pPr>
              <a:defRPr sz="1100" b="1">
                <a:solidFill>
                  <a:srgbClr val="261E48"/>
                </a:solidFill>
                <a:latin typeface="Montserrat"/>
              </a:defRPr>
            </a:pPr>
            <a:r>
              <a:t>• auth-service (Microservice JWT) :</a:t>
            </a:r>
          </a:p>
          <a:p>
            <a:pPr>
              <a:defRPr sz="1000">
                <a:solidFill>
                  <a:srgbClr val="646482"/>
                </a:solidFill>
                <a:latin typeface="Montserrat"/>
              </a:defRPr>
            </a:pPr>
            <a:r>
              <a:t>  Authentification forte RBAC (Admin SOC vs Analyste Opérateur). Cloisonnement strict des actions de remédiation par token Bearer.</a:t>
            </a:r>
          </a:p>
          <a:p>
            <a:pPr>
              <a:defRPr sz="1100" b="1">
                <a:solidFill>
                  <a:srgbClr val="261E48"/>
                </a:solidFill>
                <a:latin typeface="Montserrat"/>
              </a:defRPr>
            </a:pPr>
            <a:r>
              <a:t>• remediation-engine :</a:t>
            </a:r>
          </a:p>
          <a:p>
            <a:pPr>
              <a:defRPr sz="1000">
                <a:solidFill>
                  <a:srgbClr val="646482"/>
                </a:solidFill>
                <a:latin typeface="Montserrat"/>
              </a:defRPr>
            </a:pPr>
            <a:r>
              <a:t>  Cerveau d'auto-guérison. Reçoit les alertes du ML, communique avec l'API Kubernetes pour redémarrer les pods défaillants, puis certifie la reprise.</a:t>
            </a:r>
          </a:p>
          <a:p>
            <a:pPr>
              <a:defRPr sz="1100" b="1">
                <a:solidFill>
                  <a:srgbClr val="261E48"/>
                </a:solidFill>
                <a:latin typeface="Montserrat"/>
              </a:defRPr>
            </a:pPr>
            <a:r>
              <a:t>• dashboard-ui (React + Tailwind) :</a:t>
            </a:r>
          </a:p>
          <a:p>
            <a:pPr>
              <a:defRPr sz="1000">
                <a:solidFill>
                  <a:srgbClr val="646482"/>
                </a:solidFill>
                <a:latin typeface="Montserrat"/>
              </a:defRPr>
            </a:pPr>
            <a:r>
              <a:t>  Interface web unifiée : terminal de paiement public pour simuler le flux client, et console de supervision SOC temps réel.</a:t>
            </a:r>
          </a:p>
        </p:txBody>
      </p:sp>
      <p:sp>
        <p:nvSpPr>
          <p:cNvPr id="7" name="Rounded Rectangle 6"/>
          <p:cNvSpPr/>
          <p:nvPr/>
        </p:nvSpPr>
        <p:spPr>
          <a:xfrm>
            <a:off x="6217920" y="1371600"/>
            <a:ext cx="5242255" cy="5029200"/>
          </a:xfrm>
          <a:prstGeom prst="roundRect">
            <a:avLst/>
          </a:prstGeom>
          <a:solidFill>
            <a:srgbClr val="F1F2FA"/>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76495" cy="4663440"/>
          </a:xfrm>
          <a:prstGeom prst="rect">
            <a:avLst/>
          </a:prstGeom>
          <a:noFill/>
        </p:spPr>
        <p:txBody>
          <a:bodyPr wrap="square">
            <a:spAutoFit/>
          </a:bodyPr>
          <a:lstStyle/>
          <a:p>
            <a:pPr>
              <a:defRPr sz="1600" b="1">
                <a:solidFill>
                  <a:srgbClr val="261E48"/>
                </a:solidFill>
                <a:latin typeface="Montserrat"/>
              </a:defRPr>
            </a:pPr>
            <a:r>
              <a:t>Le Moteur de Remédiation &amp; Preuve Métier</a:t>
            </a:r>
          </a:p>
          <a:p>
            <a:pPr>
              <a:defRPr sz="1100" b="1">
                <a:solidFill>
                  <a:srgbClr val="261E48"/>
                </a:solidFill>
                <a:latin typeface="Montserrat"/>
              </a:defRPr>
            </a:pPr>
            <a:r>
              <a:t>➔ Surveillance Native K8s (Niveau 1) :</a:t>
            </a:r>
          </a:p>
          <a:p>
            <a:pPr>
              <a:defRPr sz="1000">
                <a:solidFill>
                  <a:srgbClr val="261E48"/>
                </a:solidFill>
                <a:latin typeface="Montserrat"/>
              </a:defRPr>
            </a:pPr>
            <a:r>
              <a:t>  Sondes Liveness &amp; Readiness intégrées. En cas de crash physique (OOMKilled, Error), K8s relance immédiatement le conteneur.</a:t>
            </a:r>
          </a:p>
          <a:p>
            <a:pPr>
              <a:defRPr sz="1100" b="1">
                <a:solidFill>
                  <a:srgbClr val="261E48"/>
                </a:solidFill>
                <a:latin typeface="Montserrat"/>
              </a:defRPr>
            </a:pPr>
            <a:r>
              <a:t>➔ Réaction Intelligente ML (Niveau 2) :</a:t>
            </a:r>
          </a:p>
          <a:p>
            <a:pPr>
              <a:defRPr sz="1000">
                <a:solidFill>
                  <a:srgbClr val="261E48"/>
                </a:solidFill>
                <a:latin typeface="Montserrat"/>
              </a:defRPr>
            </a:pPr>
            <a:r>
              <a:t>  En cas d'asphyxie sans crash (Slowloris, fuite de mémoire, injection de chaos), le moteur ordonne un rollout restart progressif sans coupure.</a:t>
            </a:r>
          </a:p>
          <a:p>
            <a:pPr>
              <a:defRPr sz="1100" b="1">
                <a:solidFill>
                  <a:srgbClr val="261E48"/>
                </a:solidFill>
                <a:latin typeface="Montserrat"/>
              </a:defRPr>
            </a:pPr>
            <a:r>
              <a:t>➔ La Preuve par la Transaction :</a:t>
            </a:r>
          </a:p>
          <a:p>
            <a:pPr>
              <a:defRPr sz="1000">
                <a:solidFill>
                  <a:srgbClr val="261E48"/>
                </a:solidFill>
                <a:latin typeface="Montserrat"/>
              </a:defRPr>
            </a:pPr>
            <a:r>
              <a:t>  Dès la notification de retour au vert, le module verifier.py injecte une requête POST /api/v1/payments avec un montant aléatoire et vérifie le code 201 Created.</a:t>
            </a:r>
          </a:p>
          <a:p>
            <a:pPr>
              <a:defRPr sz="1100" b="1">
                <a:solidFill>
                  <a:srgbClr val="261E48"/>
                </a:solidFill>
                <a:latin typeface="Montserrat"/>
              </a:defRPr>
            </a:pPr>
            <a:r>
              <a:t>➔ Contrôle d'Accès SOC Sécurisé :</a:t>
            </a:r>
          </a:p>
          <a:p>
            <a:pPr>
              <a:defRPr sz="1000">
                <a:solidFill>
                  <a:srgbClr val="261E48"/>
                </a:solidFill>
                <a:latin typeface="Montserrat"/>
              </a:defRPr>
            </a:pPr>
            <a:r>
              <a:t>  Conforme DORA : les commandes de remédiation ne sont pas ouvertes au réseau public. Seul l'administrateur authentifié peut forcer un cycle.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Pilier INFRA : Déploiement Helm, Haute Disponibilité &amp; Métriques</a:t>
            </a:r>
          </a:p>
        </p:txBody>
      </p:sp>
      <p:sp>
        <p:nvSpPr>
          <p:cNvPr id="5" name="Rounded Rectangle 4"/>
          <p:cNvSpPr/>
          <p:nvPr/>
        </p:nvSpPr>
        <p:spPr>
          <a:xfrm>
            <a:off x="731520" y="1371600"/>
            <a:ext cx="3337560"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2971800" cy="4663440"/>
          </a:xfrm>
          <a:prstGeom prst="rect">
            <a:avLst/>
          </a:prstGeom>
          <a:noFill/>
        </p:spPr>
        <p:txBody>
          <a:bodyPr wrap="square">
            <a:spAutoFit/>
          </a:bodyPr>
          <a:lstStyle/>
          <a:p>
            <a:pPr>
              <a:defRPr sz="1500" b="1">
                <a:solidFill>
                  <a:srgbClr val="261E48"/>
                </a:solidFill>
                <a:latin typeface="Montserrat"/>
              </a:defRPr>
            </a:pPr>
            <a:r>
              <a:t>Orchestration K8s / Helm</a:t>
            </a:r>
          </a:p>
          <a:p>
            <a:pPr>
              <a:defRPr sz="1050">
                <a:solidFill>
                  <a:srgbClr val="261E48"/>
                </a:solidFill>
                <a:latin typeface="Montserrat"/>
              </a:defRPr>
            </a:pPr>
            <a:r>
              <a:t>• Helm Chart officiel 'resilience-alpha' entièrement paramétrable (values.yaml).</a:t>
            </a:r>
          </a:p>
          <a:p>
            <a:pPr>
              <a:defRPr sz="1050">
                <a:solidFill>
                  <a:srgbClr val="261E48"/>
                </a:solidFill>
                <a:latin typeface="Montserrat"/>
              </a:defRPr>
            </a:pPr>
            <a:r>
              <a:t>• Haute disponibilité : 3 réplicas par défaut pour l'API de paiement.</a:t>
            </a:r>
          </a:p>
          <a:p>
            <a:pPr>
              <a:defRPr sz="1050">
                <a:solidFill>
                  <a:srgbClr val="261E48"/>
                </a:solidFill>
                <a:latin typeface="Montserrat"/>
              </a:defRPr>
            </a:pPr>
            <a:r>
              <a:t>• Kind Cluster avec Ingress Nginx mappé sur les ports 80/443 de la machine hôte.</a:t>
            </a:r>
          </a:p>
          <a:p>
            <a:pPr>
              <a:defRPr sz="1050">
                <a:solidFill>
                  <a:srgbClr val="261E48"/>
                </a:solidFill>
                <a:latin typeface="Montserrat"/>
              </a:defRPr>
            </a:pPr>
            <a:r>
              <a:t>• Scripts de build automatisés cross-plateformes (Linux, WSL2, macOS ARM).</a:t>
            </a:r>
          </a:p>
        </p:txBody>
      </p:sp>
      <p:sp>
        <p:nvSpPr>
          <p:cNvPr id="7" name="Rounded Rectangle 6"/>
          <p:cNvSpPr/>
          <p:nvPr/>
        </p:nvSpPr>
        <p:spPr>
          <a:xfrm>
            <a:off x="4416552" y="1371600"/>
            <a:ext cx="3337560"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554480"/>
            <a:ext cx="2971800" cy="4663440"/>
          </a:xfrm>
          <a:prstGeom prst="rect">
            <a:avLst/>
          </a:prstGeom>
          <a:noFill/>
        </p:spPr>
        <p:txBody>
          <a:bodyPr wrap="square">
            <a:spAutoFit/>
          </a:bodyPr>
          <a:lstStyle/>
          <a:p>
            <a:pPr>
              <a:defRPr sz="1500" b="1">
                <a:solidFill>
                  <a:srgbClr val="261E48"/>
                </a:solidFill>
                <a:latin typeface="Montserrat"/>
              </a:defRPr>
            </a:pPr>
            <a:r>
              <a:t>Élasticité &amp; NetworkPolicy</a:t>
            </a:r>
          </a:p>
          <a:p>
            <a:pPr>
              <a:defRPr sz="1050">
                <a:solidFill>
                  <a:srgbClr val="261E48"/>
                </a:solidFill>
                <a:latin typeface="Montserrat"/>
              </a:defRPr>
            </a:pPr>
            <a:r>
              <a:t>• Horizontal Pod Autoscaler (HPA) : passage dynamique de 3 à 8 réplicas en cas de saturation CPU (&gt;70%).</a:t>
            </a:r>
          </a:p>
          <a:p>
            <a:pPr>
              <a:defRPr sz="1050">
                <a:solidFill>
                  <a:srgbClr val="261E48"/>
                </a:solidFill>
                <a:latin typeface="Montserrat"/>
              </a:defRPr>
            </a:pPr>
            <a:r>
              <a:t>• NetworkPolicies Kubernetes : isolation stricte entre pods.</a:t>
            </a:r>
          </a:p>
          <a:p>
            <a:pPr>
              <a:defRPr sz="1050">
                <a:solidFill>
                  <a:srgbClr val="261E48"/>
                </a:solidFill>
                <a:latin typeface="Montserrat"/>
              </a:defRPr>
            </a:pPr>
            <a:r>
              <a:t>• PostgreSQL et services internes accessibles uniquement par l'API métier.</a:t>
            </a:r>
          </a:p>
          <a:p>
            <a:pPr>
              <a:defRPr sz="1050">
                <a:solidFill>
                  <a:srgbClr val="261E48"/>
                </a:solidFill>
                <a:latin typeface="Montserrat"/>
              </a:defRPr>
            </a:pPr>
            <a:r>
              <a:t>• Playbooks Ansible d'automatisation des déploiements et des tests de santé.</a:t>
            </a:r>
          </a:p>
        </p:txBody>
      </p:sp>
      <p:sp>
        <p:nvSpPr>
          <p:cNvPr id="9" name="Rounded Rectangle 8"/>
          <p:cNvSpPr/>
          <p:nvPr/>
        </p:nvSpPr>
        <p:spPr>
          <a:xfrm>
            <a:off x="8101584" y="1371600"/>
            <a:ext cx="3337560"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84464" y="1554480"/>
            <a:ext cx="2971800" cy="4663440"/>
          </a:xfrm>
          <a:prstGeom prst="rect">
            <a:avLst/>
          </a:prstGeom>
          <a:noFill/>
        </p:spPr>
        <p:txBody>
          <a:bodyPr wrap="square">
            <a:spAutoFit/>
          </a:bodyPr>
          <a:lstStyle/>
          <a:p>
            <a:pPr>
              <a:defRPr sz="1500" b="1">
                <a:solidFill>
                  <a:srgbClr val="261E48"/>
                </a:solidFill>
                <a:latin typeface="Montserrat"/>
              </a:defRPr>
            </a:pPr>
            <a:r>
              <a:t>Chaîne d'Observabilité</a:t>
            </a:r>
          </a:p>
          <a:p>
            <a:pPr>
              <a:defRPr sz="1050">
                <a:solidFill>
                  <a:srgbClr val="261E48"/>
                </a:solidFill>
                <a:latin typeface="Montserrat"/>
              </a:defRPr>
            </a:pPr>
            <a:r>
              <a:t>• Prometheus : scraping temps réel à haute fréquence (intervalle 1 seconde) sur /metrics.</a:t>
            </a:r>
          </a:p>
          <a:p>
            <a:pPr>
              <a:defRPr sz="1050">
                <a:solidFill>
                  <a:srgbClr val="261E48"/>
                </a:solidFill>
                <a:latin typeface="Montserrat"/>
              </a:defRPr>
            </a:pPr>
            <a:r>
              <a:t>• Métriques clés : payment_http_requests_total, payment_active_requests, latence moyenne.</a:t>
            </a:r>
          </a:p>
          <a:p>
            <a:pPr>
              <a:defRPr sz="1050">
                <a:solidFill>
                  <a:srgbClr val="261E48"/>
                </a:solidFill>
                <a:latin typeface="Montserrat"/>
              </a:defRPr>
            </a:pPr>
            <a:r>
              <a:t>• Grafana : dashboards visuels pour suivre le trafic nominal et les attaques.</a:t>
            </a:r>
          </a:p>
          <a:p>
            <a:pPr>
              <a:defRPr sz="1050">
                <a:solidFill>
                  <a:srgbClr val="261E48"/>
                </a:solidFill>
                <a:latin typeface="Montserrat"/>
              </a:defRPr>
            </a:pPr>
            <a:r>
              <a:t>• Loki : centralisation des logs WAF et API sans surconsommation mémoire.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Pilier CYBER : Défense en Profondeur WAF &amp; Console Red Team</a:t>
            </a:r>
          </a:p>
        </p:txBody>
      </p:sp>
      <p:sp>
        <p:nvSpPr>
          <p:cNvPr id="5" name="Rounded Rectangle 4"/>
          <p:cNvSpPr/>
          <p:nvPr/>
        </p:nvSpPr>
        <p:spPr>
          <a:xfrm>
            <a:off x="731520" y="1371600"/>
            <a:ext cx="5212080"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663440"/>
          </a:xfrm>
          <a:prstGeom prst="rect">
            <a:avLst/>
          </a:prstGeom>
          <a:noFill/>
        </p:spPr>
        <p:txBody>
          <a:bodyPr wrap="square">
            <a:spAutoFit/>
          </a:bodyPr>
          <a:lstStyle/>
          <a:p>
            <a:pPr>
              <a:defRPr sz="1600" b="1">
                <a:solidFill>
                  <a:srgbClr val="261E48"/>
                </a:solidFill>
                <a:latin typeface="Montserrat"/>
              </a:defRPr>
            </a:pPr>
            <a:r>
              <a:t>Filtrage Applicatif WAF L7 (Nginx)</a:t>
            </a:r>
          </a:p>
          <a:p>
            <a:pPr>
              <a:defRPr sz="1100" b="1">
                <a:solidFill>
                  <a:srgbClr val="261E48"/>
                </a:solidFill>
                <a:latin typeface="Montserrat"/>
              </a:defRPr>
            </a:pPr>
            <a:r>
              <a:t>1. Blocage Scanners OWASP (HTTP 403) :</a:t>
            </a:r>
          </a:p>
          <a:p>
            <a:pPr>
              <a:defRPr sz="1000">
                <a:solidFill>
                  <a:srgbClr val="646482"/>
                </a:solidFill>
                <a:latin typeface="Montserrat"/>
              </a:defRPr>
            </a:pPr>
            <a:r>
              <a:t>Détection immédiate des User-Agents malveillants réputés (sqlmap, nikto, nmap, dirbuster). La requête est rejetée net sans solliciter le backend.</a:t>
            </a:r>
          </a:p>
          <a:p>
            <a:pPr>
              <a:defRPr sz="1100" b="1">
                <a:solidFill>
                  <a:srgbClr val="261E48"/>
                </a:solidFill>
                <a:latin typeface="Montserrat"/>
              </a:defRPr>
            </a:pPr>
            <a:r>
              <a:t>2. Rate Limiting Sélectif (HTTP 429) :</a:t>
            </a:r>
          </a:p>
          <a:p>
            <a:pPr>
              <a:defRPr sz="1000">
                <a:solidFill>
                  <a:srgbClr val="646482"/>
                </a:solidFill>
                <a:latin typeface="Montserrat"/>
              </a:defRPr>
            </a:pPr>
            <a:r>
              <a:t>Plafond strict de 5 requêtes/seconde par adresse IP (burst de 10) sur /api/v1/payments. Bloque les attaques par flood de transactions.</a:t>
            </a:r>
          </a:p>
          <a:p>
            <a:pPr>
              <a:defRPr sz="1100" b="1">
                <a:solidFill>
                  <a:srgbClr val="261E48"/>
                </a:solidFill>
                <a:latin typeface="Montserrat"/>
              </a:defRPr>
            </a:pPr>
            <a:r>
              <a:t>3. Durcissement HTTP (Standards ANSSI) :</a:t>
            </a:r>
          </a:p>
          <a:p>
            <a:pPr>
              <a:defRPr sz="1000">
                <a:solidFill>
                  <a:srgbClr val="646482"/>
                </a:solidFill>
                <a:latin typeface="Montserrat"/>
              </a:defRPr>
            </a:pPr>
            <a:r>
              <a:t>En-têtes obligatoires injectés : X-Frame-Options DENY, X-Content-Type-Options nosniff, CSP stricte, protection XSS.</a:t>
            </a:r>
          </a:p>
          <a:p>
            <a:pPr>
              <a:defRPr sz="1100" b="1">
                <a:solidFill>
                  <a:srgbClr val="261E48"/>
                </a:solidFill>
                <a:latin typeface="Montserrat"/>
              </a:defRPr>
            </a:pPr>
            <a:r>
              <a:t>4. Résolution de la brèche WAF Bypass :</a:t>
            </a:r>
          </a:p>
          <a:p>
            <a:pPr>
              <a:defRPr sz="1000">
                <a:solidFill>
                  <a:srgbClr val="646482"/>
                </a:solidFill>
                <a:latin typeface="Montserrat"/>
              </a:defRPr>
            </a:pPr>
            <a:r>
              <a:t>Tous les microservices internes ont été restreints à 127.0.0.1. Tout flux externe transite obligatoirement par le WAF.</a:t>
            </a:r>
          </a:p>
        </p:txBody>
      </p:sp>
      <p:sp>
        <p:nvSpPr>
          <p:cNvPr id="7" name="Rounded Rectangle 6"/>
          <p:cNvSpPr/>
          <p:nvPr/>
        </p:nvSpPr>
        <p:spPr>
          <a:xfrm>
            <a:off x="6217920" y="1371600"/>
            <a:ext cx="5242255" cy="5029200"/>
          </a:xfrm>
          <a:prstGeom prst="roundRect">
            <a:avLst/>
          </a:prstGeom>
          <a:solidFill>
            <a:srgbClr val="F1F2FA"/>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76495" cy="4663440"/>
          </a:xfrm>
          <a:prstGeom prst="rect">
            <a:avLst/>
          </a:prstGeom>
          <a:noFill/>
        </p:spPr>
        <p:txBody>
          <a:bodyPr wrap="square">
            <a:spAutoFit/>
          </a:bodyPr>
          <a:lstStyle/>
          <a:p>
            <a:pPr>
              <a:defRPr sz="1600" b="1">
                <a:solidFill>
                  <a:srgbClr val="DC2626"/>
                </a:solidFill>
                <a:latin typeface="Montserrat"/>
              </a:defRPr>
            </a:pPr>
            <a:r>
              <a:t>Console Attaquant &amp; Red Team Découplée</a:t>
            </a:r>
          </a:p>
          <a:p>
            <a:pPr>
              <a:defRPr sz="1100" b="1">
                <a:solidFill>
                  <a:srgbClr val="261E48"/>
                </a:solidFill>
                <a:latin typeface="Montserrat"/>
              </a:defRPr>
            </a:pPr>
            <a:r>
              <a:t>Découplage Physique Strict :</a:t>
            </a:r>
          </a:p>
          <a:p>
            <a:pPr>
              <a:defRPr sz="1000">
                <a:solidFill>
                  <a:srgbClr val="261E48"/>
                </a:solidFill>
                <a:latin typeface="Montserrat"/>
              </a:defRPr>
            </a:pPr>
            <a:r>
              <a:t>Module attaquant hébergé sur un second ordinateur distinct, connecté via le point d'accès Wi-Fi dédié RESILIENCE-G&lt;n&gt;.</a:t>
            </a:r>
          </a:p>
          <a:p>
            <a:pPr>
              <a:defRPr sz="1100" b="1">
                <a:solidFill>
                  <a:srgbClr val="261E48"/>
                </a:solidFill>
                <a:latin typeface="Montserrat"/>
              </a:defRPr>
            </a:pPr>
            <a:r>
              <a:t>Double Interface d'Attaque :</a:t>
            </a:r>
          </a:p>
          <a:p>
            <a:pPr>
              <a:defRPr sz="1000">
                <a:solidFill>
                  <a:srgbClr val="261E48"/>
                </a:solidFill>
                <a:latin typeface="Montserrat"/>
              </a:defRPr>
            </a:pPr>
            <a:r>
              <a:t>Dashboard interactif Next.js (port 3001) avec feedback temps réel, et script CLI Python pour exécution scriptée.</a:t>
            </a:r>
          </a:p>
          <a:p>
            <a:pPr>
              <a:defRPr sz="1100" b="1">
                <a:solidFill>
                  <a:srgbClr val="261E48"/>
                </a:solidFill>
                <a:latin typeface="Montserrat"/>
              </a:defRPr>
            </a:pPr>
            <a:r>
              <a:t>Scénarios Développés sur Mesure :</a:t>
            </a:r>
          </a:p>
          <a:p>
            <a:pPr>
              <a:defRPr sz="1000">
                <a:solidFill>
                  <a:srgbClr val="261E48"/>
                </a:solidFill>
                <a:latin typeface="Montserrat"/>
              </a:defRPr>
            </a:pPr>
            <a:r>
              <a:t>Scan de vulnérabilités, HTTP Flood asynchrone, Slowloris sockets TCP partiels, et injection de dégradation/latence (Chaos).</a:t>
            </a:r>
          </a:p>
          <a:p>
            <a:pPr>
              <a:defRPr sz="1100" b="1">
                <a:solidFill>
                  <a:srgbClr val="261E48"/>
                </a:solidFill>
                <a:latin typeface="Montserrat"/>
              </a:defRPr>
            </a:pPr>
            <a:r>
              <a:t>Postulat Réaliste :</a:t>
            </a:r>
          </a:p>
          <a:p>
            <a:pPr>
              <a:defRPr sz="1000">
                <a:solidFill>
                  <a:srgbClr val="261E48"/>
                </a:solidFill>
                <a:latin typeface="Montserrat"/>
              </a:defRPr>
            </a:pPr>
            <a:r>
              <a:t>Le WAF arrête les attaques grossières ; la cyber-résilience prend le relais sur les attaques évoluées non filtrables.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Pilier IA / DATA : Détection Comportementale AIOps (Machine Learning)</a:t>
            </a:r>
          </a:p>
        </p:txBody>
      </p:sp>
      <p:sp>
        <p:nvSpPr>
          <p:cNvPr id="5" name="Rounded Rectangle 4"/>
          <p:cNvSpPr/>
          <p:nvPr/>
        </p:nvSpPr>
        <p:spPr>
          <a:xfrm>
            <a:off x="731520" y="1371600"/>
            <a:ext cx="5212080"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663440"/>
          </a:xfrm>
          <a:prstGeom prst="rect">
            <a:avLst/>
          </a:prstGeom>
          <a:noFill/>
        </p:spPr>
        <p:txBody>
          <a:bodyPr wrap="square">
            <a:spAutoFit/>
          </a:bodyPr>
          <a:lstStyle/>
          <a:p>
            <a:pPr>
              <a:defRPr sz="1600" b="1">
                <a:solidFill>
                  <a:srgbClr val="261E48"/>
                </a:solidFill>
                <a:latin typeface="Montserrat"/>
              </a:defRPr>
            </a:pPr>
            <a:r>
              <a:t>Modèle Isolation Forest (Scikit-Learn)</a:t>
            </a:r>
          </a:p>
          <a:p>
            <a:pPr>
              <a:defRPr sz="1100" b="1">
                <a:solidFill>
                  <a:srgbClr val="261E48"/>
                </a:solidFill>
                <a:latin typeface="Montserrat"/>
              </a:defRPr>
            </a:pPr>
            <a:r>
              <a:t>Détection Non-Supervisée :</a:t>
            </a:r>
          </a:p>
          <a:p>
            <a:pPr>
              <a:defRPr sz="1000">
                <a:solidFill>
                  <a:srgbClr val="646482"/>
                </a:solidFill>
                <a:latin typeface="Montserrat"/>
              </a:defRPr>
            </a:pPr>
            <a:r>
              <a:t>Pas de règles 'if/else' rigides. L'algorithme isole les observations aberrantes en calculant la profondeur de partitionnement dans une forêt d'arbres décisionnels.</a:t>
            </a:r>
          </a:p>
          <a:p>
            <a:pPr>
              <a:defRPr sz="1100" b="1">
                <a:solidFill>
                  <a:srgbClr val="261E48"/>
                </a:solidFill>
                <a:latin typeface="Montserrat"/>
              </a:defRPr>
            </a:pPr>
            <a:r>
              <a:t>Entraînement Nominal Préalable :</a:t>
            </a:r>
          </a:p>
          <a:p>
            <a:pPr>
              <a:defRPr sz="1000">
                <a:solidFill>
                  <a:srgbClr val="646482"/>
                </a:solidFill>
                <a:latin typeface="Montserrat"/>
              </a:defRPr>
            </a:pPr>
            <a:r>
              <a:t>Modèle entraîné sur 1 500 échantillons de trafic sain (train_baseline.py) avec un taux de contamination calibré à 3%.</a:t>
            </a:r>
          </a:p>
          <a:p>
            <a:pPr>
              <a:defRPr sz="1100" b="1">
                <a:solidFill>
                  <a:srgbClr val="261E48"/>
                </a:solidFill>
                <a:latin typeface="Montserrat"/>
              </a:defRPr>
            </a:pPr>
            <a:r>
              <a:t>Légèreté &amp; Performance Temps Réel :</a:t>
            </a:r>
          </a:p>
          <a:p>
            <a:pPr>
              <a:defRPr sz="1000">
                <a:solidFill>
                  <a:srgbClr val="646482"/>
                </a:solidFill>
                <a:latin typeface="Montserrat"/>
              </a:defRPr>
            </a:pPr>
            <a:r>
              <a:t>Zéro dépendance GPU. Inférence instantanée en moins de 5 millisecondes, directement exécutable en mémoire sur le PC Hôte.</a:t>
            </a:r>
          </a:p>
          <a:p>
            <a:pPr>
              <a:defRPr sz="1100" b="1">
                <a:solidFill>
                  <a:srgbClr val="261E48"/>
                </a:solidFill>
                <a:latin typeface="Montserrat"/>
              </a:defRPr>
            </a:pPr>
            <a:r>
              <a:t>Garde-fous Anti-Faux Positifs :</a:t>
            </a:r>
          </a:p>
          <a:p>
            <a:pPr>
              <a:defRPr sz="1000">
                <a:solidFill>
                  <a:srgbClr val="646482"/>
                </a:solidFill>
                <a:latin typeface="Montserrat"/>
              </a:defRPr>
            </a:pPr>
            <a:r>
              <a:t>Une charge nominale ou un système au repos (sans erreur et latence &lt; 150ms) ne déclenche jamais d'alerte intempestive.</a:t>
            </a:r>
          </a:p>
        </p:txBody>
      </p:sp>
      <p:sp>
        <p:nvSpPr>
          <p:cNvPr id="7" name="Rounded Rectangle 6"/>
          <p:cNvSpPr/>
          <p:nvPr/>
        </p:nvSpPr>
        <p:spPr>
          <a:xfrm>
            <a:off x="6217920" y="1371600"/>
            <a:ext cx="5242255" cy="5029200"/>
          </a:xfrm>
          <a:prstGeom prst="roundRect">
            <a:avLst/>
          </a:prstGeom>
          <a:solidFill>
            <a:srgbClr val="261E48"/>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76495" cy="4663440"/>
          </a:xfrm>
          <a:prstGeom prst="rect">
            <a:avLst/>
          </a:prstGeom>
          <a:noFill/>
        </p:spPr>
        <p:txBody>
          <a:bodyPr wrap="square">
            <a:spAutoFit/>
          </a:bodyPr>
          <a:lstStyle/>
          <a:p>
            <a:pPr>
              <a:defRPr sz="1600" b="1">
                <a:solidFill>
                  <a:srgbClr val="FFFFFF"/>
                </a:solidFill>
                <a:latin typeface="Montserrat"/>
              </a:defRPr>
            </a:pPr>
            <a:r>
              <a:t>Le Vecteur Télémétrique 4D Ingesté</a:t>
            </a:r>
          </a:p>
          <a:p>
            <a:pPr>
              <a:defRPr sz="1150" b="1">
                <a:solidFill>
                  <a:srgbClr val="A1A6D4"/>
                </a:solidFill>
                <a:latin typeface="Montserrat"/>
              </a:defRPr>
            </a:pPr>
            <a:r>
              <a:t>1. request_rate (req/s)</a:t>
            </a:r>
          </a:p>
          <a:p>
            <a:pPr>
              <a:defRPr sz="1000">
                <a:solidFill>
                  <a:srgbClr val="FFFFFF"/>
                </a:solidFill>
                <a:latin typeface="Montserrat"/>
              </a:defRPr>
            </a:pPr>
            <a:r>
              <a:t>Débit réel calculé par dérivation différentielle entre deux scrapes successifs.</a:t>
            </a:r>
          </a:p>
          <a:p>
            <a:pPr>
              <a:defRPr sz="1150" b="1">
                <a:solidFill>
                  <a:srgbClr val="A1A6D4"/>
                </a:solidFill>
                <a:latin typeface="Montserrat"/>
              </a:defRPr>
            </a:pPr>
            <a:r>
              <a:t>2. avg_latency_ms (ms)</a:t>
            </a:r>
          </a:p>
          <a:p>
            <a:pPr>
              <a:defRPr sz="1000">
                <a:solidFill>
                  <a:srgbClr val="FFFFFF"/>
                </a:solidFill>
                <a:latin typeface="Montserrat"/>
              </a:defRPr>
            </a:pPr>
            <a:r>
              <a:t>Latence moyenne de réponse de l'API de paiement (détecte l'asphyxie et le Slowloris).</a:t>
            </a:r>
          </a:p>
          <a:p>
            <a:pPr>
              <a:defRPr sz="1150" b="1">
                <a:solidFill>
                  <a:srgbClr val="A1A6D4"/>
                </a:solidFill>
                <a:latin typeface="Montserrat"/>
              </a:defRPr>
            </a:pPr>
            <a:r>
              <a:t>3. error_rate_5xx (%)</a:t>
            </a:r>
          </a:p>
          <a:p>
            <a:pPr>
              <a:defRPr sz="1000">
                <a:solidFill>
                  <a:srgbClr val="FFFFFF"/>
                </a:solidFill>
                <a:latin typeface="Montserrat"/>
              </a:defRPr>
            </a:pPr>
            <a:r>
              <a:t>Ratio d'échecs serveur par rapport au volume global de requêtes.</a:t>
            </a:r>
          </a:p>
          <a:p>
            <a:pPr>
              <a:defRPr sz="1150" b="1">
                <a:solidFill>
                  <a:srgbClr val="A1A6D4"/>
                </a:solidFill>
                <a:latin typeface="Montserrat"/>
              </a:defRPr>
            </a:pPr>
            <a:r>
              <a:t>4. active_requests (connexions)</a:t>
            </a:r>
          </a:p>
          <a:p>
            <a:pPr>
              <a:defRPr sz="1000">
                <a:solidFill>
                  <a:srgbClr val="FFFFFF"/>
                </a:solidFill>
                <a:latin typeface="Montserrat"/>
              </a:defRPr>
            </a:pPr>
            <a:r>
              <a:t>Nombre de connexions HTTP concurrentes en cours de traitement par le serveur.</a:t>
            </a:r>
          </a:p>
          <a:p>
            <a:br/>
            <a:pPr>
              <a:defRPr sz="1150" b="1">
                <a:solidFill>
                  <a:srgbClr val="FFFFFF"/>
                </a:solidFill>
                <a:latin typeface="Montserrat"/>
              </a:defRPr>
            </a:pPr>
            <a:r>
              <a:t>Règle de Déclenchement de Reprise :</a:t>
            </a:r>
          </a:p>
          <a:p>
            <a:pPr>
              <a:defRPr sz="1050">
                <a:solidFill>
                  <a:srgbClr val="16A34A"/>
                </a:solidFill>
                <a:latin typeface="Montserrat"/>
              </a:defRPr>
            </a:pPr>
            <a:r>
              <a:t>2 anomalies consécutives confirmées (Score &lt; 0) ➔ Émission Webhook immédiate au Moteur de Remédiation.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Le Cœur de la Résilience : La Chaîne Zero-Touch en 5 Étapes</a:t>
            </a:r>
          </a:p>
        </p:txBody>
      </p:sp>
      <p:sp>
        <p:nvSpPr>
          <p:cNvPr id="5" name="Rounded Rectangle 4"/>
          <p:cNvSpPr/>
          <p:nvPr/>
        </p:nvSpPr>
        <p:spPr>
          <a:xfrm>
            <a:off x="731520" y="1371600"/>
            <a:ext cx="2029968" cy="402336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2029968" cy="6400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T = 0s</a:t>
            </a:r>
          </a:p>
        </p:txBody>
      </p:sp>
      <p:sp>
        <p:nvSpPr>
          <p:cNvPr id="7" name="TextBox 6"/>
          <p:cNvSpPr txBox="1"/>
          <p:nvPr/>
        </p:nvSpPr>
        <p:spPr>
          <a:xfrm>
            <a:off x="822960" y="2103120"/>
            <a:ext cx="1847088" cy="3108960"/>
          </a:xfrm>
          <a:prstGeom prst="rect">
            <a:avLst/>
          </a:prstGeom>
          <a:noFill/>
        </p:spPr>
        <p:txBody>
          <a:bodyPr wrap="square">
            <a:spAutoFit/>
          </a:bodyPr>
          <a:lstStyle/>
          <a:p>
            <a:pPr>
              <a:defRPr sz="1200" b="1">
                <a:solidFill>
                  <a:srgbClr val="261E48"/>
                </a:solidFill>
                <a:latin typeface="Montserrat"/>
              </a:defRPr>
            </a:pPr>
            <a:r>
              <a:t>Attaque Red Team</a:t>
            </a:r>
          </a:p>
          <a:p>
            <a:br/>
            <a:pPr>
              <a:defRPr sz="1000">
                <a:solidFill>
                  <a:srgbClr val="261E48"/>
                </a:solidFill>
                <a:latin typeface="Montserrat"/>
              </a:defRPr>
            </a:pPr>
            <a:r>
              <a:t>L'attaquant externe déclenche une attaque Slowloris ou Chaos API qui contourne le WAF.</a:t>
            </a:r>
          </a:p>
        </p:txBody>
      </p:sp>
      <p:sp>
        <p:nvSpPr>
          <p:cNvPr id="8" name="Rounded Rectangle 7"/>
          <p:cNvSpPr/>
          <p:nvPr/>
        </p:nvSpPr>
        <p:spPr>
          <a:xfrm>
            <a:off x="2898648" y="1371600"/>
            <a:ext cx="2029968" cy="402336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98648" y="1371600"/>
            <a:ext cx="2029968" cy="6400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T + 3s</a:t>
            </a:r>
          </a:p>
        </p:txBody>
      </p:sp>
      <p:sp>
        <p:nvSpPr>
          <p:cNvPr id="10" name="TextBox 9"/>
          <p:cNvSpPr txBox="1"/>
          <p:nvPr/>
        </p:nvSpPr>
        <p:spPr>
          <a:xfrm>
            <a:off x="2990088" y="2103120"/>
            <a:ext cx="1847088" cy="3108960"/>
          </a:xfrm>
          <a:prstGeom prst="rect">
            <a:avLst/>
          </a:prstGeom>
          <a:noFill/>
        </p:spPr>
        <p:txBody>
          <a:bodyPr wrap="square">
            <a:spAutoFit/>
          </a:bodyPr>
          <a:lstStyle/>
          <a:p>
            <a:pPr>
              <a:defRPr sz="1200" b="1">
                <a:solidFill>
                  <a:srgbClr val="261E48"/>
                </a:solidFill>
                <a:latin typeface="Montserrat"/>
              </a:defRPr>
            </a:pPr>
            <a:r>
              <a:t>Dégradation Métier</a:t>
            </a:r>
          </a:p>
          <a:p>
            <a:br/>
            <a:pPr>
              <a:defRPr sz="1000">
                <a:solidFill>
                  <a:srgbClr val="261E48"/>
                </a:solidFill>
                <a:latin typeface="Montserrat"/>
              </a:defRPr>
            </a:pPr>
            <a:r>
              <a:t>La latence s'envole (&gt; 1000ms) et les erreurs 500 augmentent. Le dashboard passe à l'orange.</a:t>
            </a:r>
          </a:p>
        </p:txBody>
      </p:sp>
      <p:sp>
        <p:nvSpPr>
          <p:cNvPr id="11" name="Rounded Rectangle 10"/>
          <p:cNvSpPr/>
          <p:nvPr/>
        </p:nvSpPr>
        <p:spPr>
          <a:xfrm>
            <a:off x="5065776" y="1371600"/>
            <a:ext cx="2029968" cy="402336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65776" y="1371600"/>
            <a:ext cx="2029968" cy="6400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T + 6s</a:t>
            </a:r>
          </a:p>
        </p:txBody>
      </p:sp>
      <p:sp>
        <p:nvSpPr>
          <p:cNvPr id="13" name="TextBox 12"/>
          <p:cNvSpPr txBox="1"/>
          <p:nvPr/>
        </p:nvSpPr>
        <p:spPr>
          <a:xfrm>
            <a:off x="5157216" y="2103120"/>
            <a:ext cx="1847088" cy="3108960"/>
          </a:xfrm>
          <a:prstGeom prst="rect">
            <a:avLst/>
          </a:prstGeom>
          <a:noFill/>
        </p:spPr>
        <p:txBody>
          <a:bodyPr wrap="square">
            <a:spAutoFit/>
          </a:bodyPr>
          <a:lstStyle/>
          <a:p>
            <a:pPr>
              <a:defRPr sz="1200" b="1">
                <a:solidFill>
                  <a:srgbClr val="261E48"/>
                </a:solidFill>
                <a:latin typeface="Montserrat"/>
              </a:defRPr>
            </a:pPr>
            <a:r>
              <a:t>Détection AIOps</a:t>
            </a:r>
          </a:p>
          <a:p>
            <a:br/>
            <a:pPr>
              <a:defRPr sz="1000">
                <a:solidFill>
                  <a:srgbClr val="261E48"/>
                </a:solidFill>
                <a:latin typeface="Montserrat"/>
              </a:defRPr>
            </a:pPr>
            <a:r>
              <a:t>L'Isolation Forest confirme l'anomalie sur 2 cycles successifs et émet un webhook d'incident.</a:t>
            </a:r>
          </a:p>
        </p:txBody>
      </p:sp>
      <p:sp>
        <p:nvSpPr>
          <p:cNvPr id="14" name="Rounded Rectangle 13"/>
          <p:cNvSpPr/>
          <p:nvPr/>
        </p:nvSpPr>
        <p:spPr>
          <a:xfrm>
            <a:off x="7232904" y="1371600"/>
            <a:ext cx="2029968" cy="4023360"/>
          </a:xfrm>
          <a:prstGeom prst="roundRect">
            <a:avLst/>
          </a:prstGeom>
          <a:solidFill>
            <a:srgbClr val="FFFFFF"/>
          </a:solidFill>
          <a:ln w="25400">
            <a:solidFill>
              <a:srgbClr val="261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32904" y="1371600"/>
            <a:ext cx="2029968" cy="64008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T + 8s</a:t>
            </a:r>
          </a:p>
        </p:txBody>
      </p:sp>
      <p:sp>
        <p:nvSpPr>
          <p:cNvPr id="16" name="TextBox 15"/>
          <p:cNvSpPr txBox="1"/>
          <p:nvPr/>
        </p:nvSpPr>
        <p:spPr>
          <a:xfrm>
            <a:off x="7324344" y="2103120"/>
            <a:ext cx="1847088" cy="3108960"/>
          </a:xfrm>
          <a:prstGeom prst="rect">
            <a:avLst/>
          </a:prstGeom>
          <a:noFill/>
        </p:spPr>
        <p:txBody>
          <a:bodyPr wrap="square">
            <a:spAutoFit/>
          </a:bodyPr>
          <a:lstStyle/>
          <a:p>
            <a:pPr>
              <a:defRPr sz="1200" b="1">
                <a:solidFill>
                  <a:srgbClr val="261E48"/>
                </a:solidFill>
                <a:latin typeface="Montserrat"/>
              </a:defRPr>
            </a:pPr>
            <a:r>
              <a:t>Remédiation K8s</a:t>
            </a:r>
          </a:p>
          <a:p>
            <a:br/>
            <a:pPr>
              <a:defRPr sz="1000">
                <a:solidFill>
                  <a:srgbClr val="261E48"/>
                </a:solidFill>
                <a:latin typeface="Montserrat"/>
              </a:defRPr>
            </a:pPr>
            <a:r>
              <a:t>Le moteur ordonne un rollout restart sans coupure des pods ou recrée le conteneur altéré.</a:t>
            </a:r>
          </a:p>
        </p:txBody>
      </p:sp>
      <p:sp>
        <p:nvSpPr>
          <p:cNvPr id="17" name="Rounded Rectangle 16"/>
          <p:cNvSpPr/>
          <p:nvPr/>
        </p:nvSpPr>
        <p:spPr>
          <a:xfrm>
            <a:off x="9400032" y="1371600"/>
            <a:ext cx="2029968" cy="402336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00032" y="1371600"/>
            <a:ext cx="2029968" cy="6400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T + 18s</a:t>
            </a:r>
          </a:p>
        </p:txBody>
      </p:sp>
      <p:sp>
        <p:nvSpPr>
          <p:cNvPr id="19" name="TextBox 18"/>
          <p:cNvSpPr txBox="1"/>
          <p:nvPr/>
        </p:nvSpPr>
        <p:spPr>
          <a:xfrm>
            <a:off x="9491472" y="2103120"/>
            <a:ext cx="1847088" cy="3108960"/>
          </a:xfrm>
          <a:prstGeom prst="rect">
            <a:avLst/>
          </a:prstGeom>
          <a:noFill/>
        </p:spPr>
        <p:txBody>
          <a:bodyPr wrap="square">
            <a:spAutoFit/>
          </a:bodyPr>
          <a:lstStyle/>
          <a:p>
            <a:pPr>
              <a:defRPr sz="1200" b="1">
                <a:solidFill>
                  <a:srgbClr val="261E48"/>
                </a:solidFill>
                <a:latin typeface="Montserrat"/>
              </a:defRPr>
            </a:pPr>
            <a:r>
              <a:t>Preuve de Reprise</a:t>
            </a:r>
          </a:p>
          <a:p>
            <a:br/>
            <a:pPr>
              <a:defRPr sz="1000">
                <a:solidFill>
                  <a:srgbClr val="261E48"/>
                </a:solidFill>
                <a:latin typeface="Montserrat"/>
              </a:defRPr>
            </a:pPr>
            <a:r>
              <a:t>Le module de validation injecte un paiement réel. Succès 201 Created : voyant vert certifié !</a:t>
            </a:r>
          </a:p>
        </p:txBody>
      </p:sp>
      <p:sp>
        <p:nvSpPr>
          <p:cNvPr id="20" name="Rounded Rectangle 19"/>
          <p:cNvSpPr/>
          <p:nvPr/>
        </p:nvSpPr>
        <p:spPr>
          <a:xfrm>
            <a:off x="731520" y="5532120"/>
            <a:ext cx="10728655" cy="86868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596128"/>
            <a:ext cx="10362895" cy="731520"/>
          </a:xfrm>
          <a:prstGeom prst="rect">
            <a:avLst/>
          </a:prstGeom>
          <a:noFill/>
        </p:spPr>
        <p:txBody>
          <a:bodyPr wrap="square">
            <a:spAutoFit/>
          </a:bodyPr>
          <a:lstStyle/>
          <a:p>
            <a:pPr>
              <a:defRPr sz="1200" b="1">
                <a:solidFill>
                  <a:srgbClr val="16A34A"/>
                </a:solidFill>
                <a:latin typeface="Montserrat"/>
              </a:defRPr>
            </a:pPr>
            <a:r>
              <a:t>RÉSULTAT CHIFFRÉ : RTO CONSTATÉ &lt; 20 SECONDES — ZÉRO INTERVENTION HUMAINE REQUISE.</a:t>
            </a:r>
          </a:p>
          <a:p>
            <a:pPr>
              <a:defRPr sz="1050">
                <a:solidFill>
                  <a:srgbClr val="261E48"/>
                </a:solidFill>
                <a:latin typeface="Montserrat"/>
              </a:defRPr>
            </a:pPr>
            <a:r>
              <a:t>L'ensemble du cycle incident-détection-reprise-validation s'exécute de façon autonome en direct devant le jury.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Matrice Red Team vs Blue Team : Les 5 Scénarios Éprouvés</a:t>
            </a:r>
          </a:p>
        </p:txBody>
      </p:sp>
      <p:graphicFrame>
        <p:nvGraphicFramePr>
          <p:cNvPr id="5" name="Table 4"/>
          <p:cNvGraphicFramePr>
            <a:graphicFrameLocks noGrp="1"/>
          </p:cNvGraphicFramePr>
          <p:nvPr/>
        </p:nvGraphicFramePr>
        <p:xfrm>
          <a:off x="731520" y="1371600"/>
          <a:ext cx="10728655" cy="4937760"/>
        </p:xfrm>
        <a:graphic>
          <a:graphicData uri="http://schemas.openxmlformats.org/drawingml/2006/table">
            <a:tbl>
              <a:tblPr firstRow="1" bandRow="1">
                <a:tableStyleId>{5C22544A-7EE6-4342-B048-85BDC9FD1C3A}</a:tableStyleId>
              </a:tblPr>
              <a:tblGrid>
                <a:gridCol w="731520"/>
                <a:gridCol w="2011680"/>
                <a:gridCol w="2011680"/>
                <a:gridCol w="2011680"/>
                <a:gridCol w="2286000"/>
                <a:gridCol w="1676095"/>
              </a:tblGrid>
              <a:tr h="822960">
                <a:tc>
                  <a:txBody>
                    <a:bodyPr/>
                    <a:lstStyle/>
                    <a:p>
                      <a:pPr algn="ctr">
                        <a:defRPr sz="1000" b="1">
                          <a:solidFill>
                            <a:srgbClr val="FFFFFF"/>
                          </a:solidFill>
                          <a:latin typeface="Montserrat"/>
                        </a:defRPr>
                      </a:pPr>
                      <a:r>
                        <a:t>#</a:t>
                      </a:r>
                    </a:p>
                  </a:txBody>
                  <a:tcPr>
                    <a:solidFill>
                      <a:srgbClr val="261E48"/>
                    </a:solidFill>
                  </a:tcPr>
                </a:tc>
                <a:tc>
                  <a:txBody>
                    <a:bodyPr/>
                    <a:lstStyle/>
                    <a:p>
                      <a:pPr algn="ctr">
                        <a:defRPr sz="1000" b="1">
                          <a:solidFill>
                            <a:srgbClr val="FFFFFF"/>
                          </a:solidFill>
                          <a:latin typeface="Montserrat"/>
                        </a:defRPr>
                      </a:pPr>
                      <a:r>
                        <a:t>Type d'Attaque</a:t>
                      </a:r>
                    </a:p>
                  </a:txBody>
                  <a:tcPr>
                    <a:solidFill>
                      <a:srgbClr val="261E48"/>
                    </a:solidFill>
                  </a:tcPr>
                </a:tc>
                <a:tc>
                  <a:txBody>
                    <a:bodyPr/>
                    <a:lstStyle/>
                    <a:p>
                      <a:pPr algn="ctr">
                        <a:defRPr sz="1000" b="1">
                          <a:solidFill>
                            <a:srgbClr val="FFFFFF"/>
                          </a:solidFill>
                          <a:latin typeface="Montserrat"/>
                        </a:defRPr>
                      </a:pPr>
                      <a:r>
                        <a:t>Vecteur &amp; Route</a:t>
                      </a:r>
                    </a:p>
                  </a:txBody>
                  <a:tcPr>
                    <a:solidFill>
                      <a:srgbClr val="261E48"/>
                    </a:solidFill>
                  </a:tcPr>
                </a:tc>
                <a:tc>
                  <a:txBody>
                    <a:bodyPr/>
                    <a:lstStyle/>
                    <a:p>
                      <a:pPr algn="ctr">
                        <a:defRPr sz="1000" b="1">
                          <a:solidFill>
                            <a:srgbClr val="FFFFFF"/>
                          </a:solidFill>
                          <a:latin typeface="Montserrat"/>
                        </a:defRPr>
                      </a:pPr>
                      <a:r>
                        <a:t>Action WAF Nginx</a:t>
                      </a:r>
                    </a:p>
                  </a:txBody>
                  <a:tcPr>
                    <a:solidFill>
                      <a:srgbClr val="261E48"/>
                    </a:solidFill>
                  </a:tcPr>
                </a:tc>
                <a:tc>
                  <a:txBody>
                    <a:bodyPr/>
                    <a:lstStyle/>
                    <a:p>
                      <a:pPr algn="ctr">
                        <a:defRPr sz="1000" b="1">
                          <a:solidFill>
                            <a:srgbClr val="FFFFFF"/>
                          </a:solidFill>
                          <a:latin typeface="Montserrat"/>
                        </a:defRPr>
                      </a:pPr>
                      <a:r>
                        <a:t>Réaction Résilience</a:t>
                      </a:r>
                    </a:p>
                  </a:txBody>
                  <a:tcPr>
                    <a:solidFill>
                      <a:srgbClr val="261E48"/>
                    </a:solidFill>
                  </a:tcPr>
                </a:tc>
                <a:tc>
                  <a:txBody>
                    <a:bodyPr/>
                    <a:lstStyle/>
                    <a:p>
                      <a:pPr algn="ctr">
                        <a:defRPr sz="1000" b="1">
                          <a:solidFill>
                            <a:srgbClr val="FFFFFF"/>
                          </a:solidFill>
                          <a:latin typeface="Montserrat"/>
                        </a:defRPr>
                      </a:pPr>
                      <a:r>
                        <a:t>Preuve Soutenance</a:t>
                      </a:r>
                    </a:p>
                  </a:txBody>
                  <a:tcPr>
                    <a:solidFill>
                      <a:srgbClr val="261E48"/>
                    </a:solidFill>
                  </a:tcPr>
                </a:tc>
              </a:tr>
              <a:tr h="822960">
                <a:tc>
                  <a:txBody>
                    <a:bodyPr/>
                    <a:lstStyle/>
                    <a:p>
                      <a:pPr algn="ctr">
                        <a:defRPr sz="900">
                          <a:solidFill>
                            <a:srgbClr val="261E48"/>
                          </a:solidFill>
                          <a:latin typeface="Montserrat"/>
                        </a:defRPr>
                      </a:pPr>
                      <a:r>
                        <a:t>1</a:t>
                      </a:r>
                    </a:p>
                  </a:txBody>
                  <a:tcPr>
                    <a:solidFill>
                      <a:srgbClr val="FFFFFF"/>
                    </a:solidFill>
                  </a:tcPr>
                </a:tc>
                <a:tc>
                  <a:txBody>
                    <a:bodyPr/>
                    <a:lstStyle/>
                    <a:p>
                      <a:pPr>
                        <a:defRPr sz="900">
                          <a:solidFill>
                            <a:srgbClr val="261E48"/>
                          </a:solidFill>
                          <a:latin typeface="Montserrat"/>
                        </a:defRPr>
                      </a:pPr>
                      <a:r>
                        <a:t>Scan OWASP Top 10</a:t>
                      </a:r>
                    </a:p>
                  </a:txBody>
                  <a:tcPr>
                    <a:solidFill>
                      <a:srgbClr val="FFFFFF"/>
                    </a:solidFill>
                  </a:tcPr>
                </a:tc>
                <a:tc>
                  <a:txBody>
                    <a:bodyPr/>
                    <a:lstStyle/>
                    <a:p>
                      <a:pPr>
                        <a:defRPr sz="900">
                          <a:solidFill>
                            <a:srgbClr val="261E48"/>
                          </a:solidFill>
                          <a:latin typeface="Montserrat"/>
                        </a:defRPr>
                      </a:pPr>
                      <a:r>
                        <a:t>CLI: mode scanner</a:t>
                      </a:r>
                      <a:br/>
                      <a:r>
                        <a:t>UA: sqlmap / nikto</a:t>
                      </a:r>
                    </a:p>
                  </a:txBody>
                  <a:tcPr>
                    <a:solidFill>
                      <a:srgbClr val="FFFFFF"/>
                    </a:solidFill>
                  </a:tcPr>
                </a:tc>
                <a:tc>
                  <a:txBody>
                    <a:bodyPr/>
                    <a:lstStyle/>
                    <a:p>
                      <a:pPr algn="ctr">
                        <a:defRPr sz="900">
                          <a:solidFill>
                            <a:srgbClr val="261E48"/>
                          </a:solidFill>
                          <a:latin typeface="Montserrat"/>
                        </a:defRPr>
                      </a:pPr>
                      <a:r>
                        <a:t>BLOQUÉ NET</a:t>
                      </a:r>
                      <a:br/>
                      <a:r>
                        <a:t>(HTTP 403 Forbidden)</a:t>
                      </a:r>
                    </a:p>
                  </a:txBody>
                  <a:tcPr>
                    <a:solidFill>
                      <a:srgbClr val="FFFFFF"/>
                    </a:solidFill>
                  </a:tcPr>
                </a:tc>
                <a:tc>
                  <a:txBody>
                    <a:bodyPr/>
                    <a:lstStyle/>
                    <a:p>
                      <a:pPr>
                        <a:defRPr sz="900">
                          <a:solidFill>
                            <a:srgbClr val="261E48"/>
                          </a:solidFill>
                          <a:latin typeface="Montserrat"/>
                        </a:defRPr>
                      </a:pPr>
                      <a:r>
                        <a:t>Backend non sollicité,</a:t>
                      </a:r>
                      <a:br/>
                      <a:r>
                        <a:t>aucun impact</a:t>
                      </a:r>
                    </a:p>
                  </a:txBody>
                  <a:tcPr>
                    <a:solidFill>
                      <a:srgbClr val="FFFFFF"/>
                    </a:solidFill>
                  </a:tcPr>
                </a:tc>
                <a:tc>
                  <a:txBody>
                    <a:bodyPr/>
                    <a:lstStyle/>
                    <a:p>
                      <a:pPr algn="ctr">
                        <a:defRPr sz="900">
                          <a:solidFill>
                            <a:srgbClr val="261E48"/>
                          </a:solidFill>
                          <a:latin typeface="Montserrat"/>
                        </a:defRPr>
                      </a:pPr>
                      <a:r>
                        <a:t>Logs WAF 403</a:t>
                      </a:r>
                      <a:br/>
                      <a:r>
                        <a:t>en direct</a:t>
                      </a:r>
                    </a:p>
                  </a:txBody>
                  <a:tcPr>
                    <a:solidFill>
                      <a:srgbClr val="FFFFFF"/>
                    </a:solidFill>
                  </a:tcPr>
                </a:tc>
              </a:tr>
              <a:tr h="822960">
                <a:tc>
                  <a:txBody>
                    <a:bodyPr/>
                    <a:lstStyle/>
                    <a:p>
                      <a:pPr algn="ctr">
                        <a:defRPr sz="900">
                          <a:solidFill>
                            <a:srgbClr val="261E48"/>
                          </a:solidFill>
                          <a:latin typeface="Montserrat"/>
                        </a:defRPr>
                      </a:pPr>
                      <a:r>
                        <a:t>2</a:t>
                      </a:r>
                    </a:p>
                  </a:txBody>
                  <a:tcPr>
                    <a:solidFill>
                      <a:srgbClr val="F1F2FA"/>
                    </a:solidFill>
                  </a:tcPr>
                </a:tc>
                <a:tc>
                  <a:txBody>
                    <a:bodyPr/>
                    <a:lstStyle/>
                    <a:p>
                      <a:pPr>
                        <a:defRPr sz="900">
                          <a:solidFill>
                            <a:srgbClr val="261E48"/>
                          </a:solidFill>
                          <a:latin typeface="Montserrat"/>
                        </a:defRPr>
                      </a:pPr>
                      <a:r>
                        <a:t>HTTP Flood Volumique</a:t>
                      </a:r>
                    </a:p>
                  </a:txBody>
                  <a:tcPr>
                    <a:solidFill>
                      <a:srgbClr val="F1F2FA"/>
                    </a:solidFill>
                  </a:tcPr>
                </a:tc>
                <a:tc>
                  <a:txBody>
                    <a:bodyPr/>
                    <a:lstStyle/>
                    <a:p>
                      <a:pPr>
                        <a:defRPr sz="900">
                          <a:solidFill>
                            <a:srgbClr val="261E48"/>
                          </a:solidFill>
                          <a:latin typeface="Montserrat"/>
                        </a:defRPr>
                      </a:pPr>
                      <a:r>
                        <a:t>Next.js / CLI flood</a:t>
                      </a:r>
                      <a:br/>
                      <a:r>
                        <a:t>POST /api/v1/payments</a:t>
                      </a:r>
                    </a:p>
                  </a:txBody>
                  <a:tcPr>
                    <a:solidFill>
                      <a:srgbClr val="F1F2FA"/>
                    </a:solidFill>
                  </a:tcPr>
                </a:tc>
                <a:tc>
                  <a:txBody>
                    <a:bodyPr/>
                    <a:lstStyle/>
                    <a:p>
                      <a:pPr algn="ctr">
                        <a:defRPr sz="900">
                          <a:solidFill>
                            <a:srgbClr val="261E48"/>
                          </a:solidFill>
                          <a:latin typeface="Montserrat"/>
                        </a:defRPr>
                      </a:pPr>
                      <a:r>
                        <a:t>RATE-LIMITÉ</a:t>
                      </a:r>
                      <a:br/>
                      <a:r>
                        <a:t>(HTTP 429 Too Many Req)</a:t>
                      </a:r>
                    </a:p>
                  </a:txBody>
                  <a:tcPr>
                    <a:solidFill>
                      <a:srgbClr val="F1F2FA"/>
                    </a:solidFill>
                  </a:tcPr>
                </a:tc>
                <a:tc>
                  <a:txBody>
                    <a:bodyPr/>
                    <a:lstStyle/>
                    <a:p>
                      <a:pPr>
                        <a:defRPr sz="900">
                          <a:solidFill>
                            <a:srgbClr val="261E48"/>
                          </a:solidFill>
                          <a:latin typeface="Montserrat"/>
                        </a:defRPr>
                      </a:pPr>
                      <a:r>
                        <a:t>Si persistant : scale HPA</a:t>
                      </a:r>
                      <a:br/>
                      <a:r>
                        <a:t>de 3 à 8 réplicas K8s</a:t>
                      </a:r>
                    </a:p>
                  </a:txBody>
                  <a:tcPr>
                    <a:solidFill>
                      <a:srgbClr val="F1F2FA"/>
                    </a:solidFill>
                  </a:tcPr>
                </a:tc>
                <a:tc>
                  <a:txBody>
                    <a:bodyPr/>
                    <a:lstStyle/>
                    <a:p>
                      <a:pPr algn="ctr">
                        <a:defRPr sz="900">
                          <a:solidFill>
                            <a:srgbClr val="261E48"/>
                          </a:solidFill>
                          <a:latin typeface="Montserrat"/>
                        </a:defRPr>
                      </a:pPr>
                      <a:r>
                        <a:t>Compteur 429 &amp;</a:t>
                      </a:r>
                      <a:br/>
                      <a:r>
                        <a:t>élast. pods</a:t>
                      </a:r>
                    </a:p>
                  </a:txBody>
                  <a:tcPr>
                    <a:solidFill>
                      <a:srgbClr val="F1F2FA"/>
                    </a:solidFill>
                  </a:tcPr>
                </a:tc>
              </a:tr>
              <a:tr h="822960">
                <a:tc>
                  <a:txBody>
                    <a:bodyPr/>
                    <a:lstStyle/>
                    <a:p>
                      <a:pPr algn="ctr">
                        <a:defRPr sz="900">
                          <a:solidFill>
                            <a:srgbClr val="261E48"/>
                          </a:solidFill>
                          <a:latin typeface="Montserrat"/>
                        </a:defRPr>
                      </a:pPr>
                      <a:r>
                        <a:t>3</a:t>
                      </a:r>
                    </a:p>
                  </a:txBody>
                  <a:tcPr>
                    <a:solidFill>
                      <a:srgbClr val="FFFFFF"/>
                    </a:solidFill>
                  </a:tcPr>
                </a:tc>
                <a:tc>
                  <a:txBody>
                    <a:bodyPr/>
                    <a:lstStyle/>
                    <a:p>
                      <a:pPr>
                        <a:defRPr sz="900">
                          <a:solidFill>
                            <a:srgbClr val="261E48"/>
                          </a:solidFill>
                          <a:latin typeface="Montserrat"/>
                        </a:defRPr>
                      </a:pPr>
                      <a:r>
                        <a:t>Slowloris (Sockets)</a:t>
                      </a:r>
                    </a:p>
                  </a:txBody>
                  <a:tcPr>
                    <a:solidFill>
                      <a:srgbClr val="FFFFFF"/>
                    </a:solidFill>
                  </a:tcPr>
                </a:tc>
                <a:tc>
                  <a:txBody>
                    <a:bodyPr/>
                    <a:lstStyle/>
                    <a:p>
                      <a:pPr>
                        <a:defRPr sz="900">
                          <a:solidFill>
                            <a:srgbClr val="261E48"/>
                          </a:solidFill>
                          <a:latin typeface="Montserrat"/>
                        </a:defRPr>
                      </a:pPr>
                      <a:r>
                        <a:t>CLI: mode slowloris</a:t>
                      </a:r>
                      <a:br/>
                      <a:r>
                        <a:t>Sockets TCP incomplets</a:t>
                      </a:r>
                    </a:p>
                  </a:txBody>
                  <a:tcPr>
                    <a:solidFill>
                      <a:srgbClr val="FFFFFF"/>
                    </a:solidFill>
                  </a:tcPr>
                </a:tc>
                <a:tc>
                  <a:txBody>
                    <a:bodyPr/>
                    <a:lstStyle/>
                    <a:p>
                      <a:pPr algn="ctr">
                        <a:defRPr sz="900">
                          <a:solidFill>
                            <a:srgbClr val="261E48"/>
                          </a:solidFill>
                          <a:latin typeface="Montserrat"/>
                        </a:defRPr>
                      </a:pPr>
                      <a:r>
                        <a:t>PASSE LE WAF</a:t>
                      </a:r>
                      <a:br/>
                      <a:r>
                        <a:t>(faille réaliste démo)</a:t>
                      </a:r>
                    </a:p>
                  </a:txBody>
                  <a:tcPr>
                    <a:solidFill>
                      <a:srgbClr val="FFFFFF"/>
                    </a:solidFill>
                  </a:tcPr>
                </a:tc>
                <a:tc>
                  <a:txBody>
                    <a:bodyPr/>
                    <a:lstStyle/>
                    <a:p>
                      <a:pPr>
                        <a:defRPr sz="900">
                          <a:solidFill>
                            <a:srgbClr val="261E48"/>
                          </a:solidFill>
                          <a:latin typeface="Montserrat"/>
                        </a:defRPr>
                      </a:pPr>
                      <a:r>
                        <a:t>Saturation descripteurs ➔</a:t>
                      </a:r>
                      <a:br/>
                      <a:r>
                        <a:t>ML AIOps détecte latence ➔ Restart</a:t>
                      </a:r>
                    </a:p>
                  </a:txBody>
                  <a:tcPr>
                    <a:solidFill>
                      <a:srgbClr val="FFFFFF"/>
                    </a:solidFill>
                  </a:tcPr>
                </a:tc>
                <a:tc>
                  <a:txBody>
                    <a:bodyPr/>
                    <a:lstStyle/>
                    <a:p>
                      <a:pPr algn="ctr">
                        <a:defRPr sz="900">
                          <a:solidFill>
                            <a:srgbClr val="261E48"/>
                          </a:solidFill>
                          <a:latin typeface="Montserrat"/>
                        </a:defRPr>
                      </a:pPr>
                      <a:r>
                        <a:t>Rollout restart</a:t>
                      </a:r>
                      <a:br/>
                      <a:r>
                        <a:t>Zero-Touch</a:t>
                      </a:r>
                    </a:p>
                  </a:txBody>
                  <a:tcPr>
                    <a:solidFill>
                      <a:srgbClr val="FFFFFF"/>
                    </a:solidFill>
                  </a:tcPr>
                </a:tc>
              </a:tr>
              <a:tr h="822960">
                <a:tc>
                  <a:txBody>
                    <a:bodyPr/>
                    <a:lstStyle/>
                    <a:p>
                      <a:pPr algn="ctr">
                        <a:defRPr sz="900">
                          <a:solidFill>
                            <a:srgbClr val="261E48"/>
                          </a:solidFill>
                          <a:latin typeface="Montserrat"/>
                        </a:defRPr>
                      </a:pPr>
                      <a:r>
                        <a:t>4</a:t>
                      </a:r>
                    </a:p>
                  </a:txBody>
                  <a:tcPr>
                    <a:solidFill>
                      <a:srgbClr val="F1F2FA"/>
                    </a:solidFill>
                  </a:tcPr>
                </a:tc>
                <a:tc>
                  <a:txBody>
                    <a:bodyPr/>
                    <a:lstStyle/>
                    <a:p>
                      <a:pPr>
                        <a:defRPr sz="900">
                          <a:solidFill>
                            <a:srgbClr val="261E48"/>
                          </a:solidFill>
                          <a:latin typeface="Montserrat"/>
                        </a:defRPr>
                      </a:pPr>
                      <a:r>
                        <a:t>Chaos &amp; Dégradation</a:t>
                      </a:r>
                    </a:p>
                  </a:txBody>
                  <a:tcPr>
                    <a:solidFill>
                      <a:srgbClr val="F1F2FA"/>
                    </a:solidFill>
                  </a:tcPr>
                </a:tc>
                <a:tc>
                  <a:txBody>
                    <a:bodyPr/>
                    <a:lstStyle/>
                    <a:p>
                      <a:pPr>
                        <a:defRPr sz="900">
                          <a:solidFill>
                            <a:srgbClr val="261E48"/>
                          </a:solidFill>
                          <a:latin typeface="Montserrat"/>
                        </a:defRPr>
                      </a:pPr>
                      <a:r>
                        <a:t>Next.js / CLI chaos</a:t>
                      </a:r>
                      <a:br/>
                      <a:r>
                        <a:t>POST /chaos/configure</a:t>
                      </a:r>
                    </a:p>
                  </a:txBody>
                  <a:tcPr>
                    <a:solidFill>
                      <a:srgbClr val="F1F2FA"/>
                    </a:solidFill>
                  </a:tcPr>
                </a:tc>
                <a:tc>
                  <a:txBody>
                    <a:bodyPr/>
                    <a:lstStyle/>
                    <a:p>
                      <a:pPr algn="ctr">
                        <a:defRPr sz="900">
                          <a:solidFill>
                            <a:srgbClr val="261E48"/>
                          </a:solidFill>
                          <a:latin typeface="Montserrat"/>
                        </a:defRPr>
                      </a:pPr>
                      <a:r>
                        <a:t>PASSE LE WAF</a:t>
                      </a:r>
                      <a:br/>
                      <a:r>
                        <a:t>(payload JSON valide)</a:t>
                      </a:r>
                    </a:p>
                  </a:txBody>
                  <a:tcPr>
                    <a:solidFill>
                      <a:srgbClr val="F1F2FA"/>
                    </a:solidFill>
                  </a:tcPr>
                </a:tc>
                <a:tc>
                  <a:txBody>
                    <a:bodyPr/>
                    <a:lstStyle/>
                    <a:p>
                      <a:pPr>
                        <a:defRPr sz="900">
                          <a:solidFill>
                            <a:srgbClr val="261E48"/>
                          </a:solidFill>
                          <a:latin typeface="Montserrat"/>
                        </a:defRPr>
                      </a:pPr>
                      <a:r>
                        <a:t>65% erreurs 500 &amp; latence ➔</a:t>
                      </a:r>
                      <a:br/>
                      <a:r>
                        <a:t>Isolation Forest alerte ➔ Restart</a:t>
                      </a:r>
                    </a:p>
                  </a:txBody>
                  <a:tcPr>
                    <a:solidFill>
                      <a:srgbClr val="F1F2FA"/>
                    </a:solidFill>
                  </a:tcPr>
                </a:tc>
                <a:tc>
                  <a:txBody>
                    <a:bodyPr/>
                    <a:lstStyle/>
                    <a:p>
                      <a:pPr algn="ctr">
                        <a:defRPr sz="900">
                          <a:solidFill>
                            <a:srgbClr val="261E48"/>
                          </a:solidFill>
                          <a:latin typeface="Montserrat"/>
                        </a:defRPr>
                      </a:pPr>
                      <a:r>
                        <a:t>Alerte ML &amp;</a:t>
                      </a:r>
                      <a:br/>
                      <a:r>
                        <a:t>transaction</a:t>
                      </a:r>
                    </a:p>
                  </a:txBody>
                  <a:tcPr>
                    <a:solidFill>
                      <a:srgbClr val="F1F2FA"/>
                    </a:solidFill>
                  </a:tcPr>
                </a:tc>
              </a:tr>
              <a:tr h="822960">
                <a:tc>
                  <a:txBody>
                    <a:bodyPr/>
                    <a:lstStyle/>
                    <a:p>
                      <a:pPr algn="ctr">
                        <a:defRPr sz="900">
                          <a:solidFill>
                            <a:srgbClr val="261E48"/>
                          </a:solidFill>
                          <a:latin typeface="Montserrat"/>
                        </a:defRPr>
                      </a:pPr>
                      <a:r>
                        <a:t>5</a:t>
                      </a:r>
                    </a:p>
                  </a:txBody>
                  <a:tcPr>
                    <a:solidFill>
                      <a:srgbClr val="FFFFFF"/>
                    </a:solidFill>
                  </a:tcPr>
                </a:tc>
                <a:tc>
                  <a:txBody>
                    <a:bodyPr/>
                    <a:lstStyle/>
                    <a:p>
                      <a:pPr>
                        <a:defRPr sz="900">
                          <a:solidFill>
                            <a:srgbClr val="261E48"/>
                          </a:solidFill>
                          <a:latin typeface="Montserrat"/>
                        </a:defRPr>
                      </a:pPr>
                      <a:r>
                        <a:t>Crash Fatal Pod</a:t>
                      </a:r>
                    </a:p>
                  </a:txBody>
                  <a:tcPr>
                    <a:solidFill>
                      <a:srgbClr val="FFFFFF"/>
                    </a:solidFill>
                  </a:tcPr>
                </a:tc>
                <a:tc>
                  <a:txBody>
                    <a:bodyPr/>
                    <a:lstStyle/>
                    <a:p>
                      <a:pPr>
                        <a:defRPr sz="900">
                          <a:solidFill>
                            <a:srgbClr val="261E48"/>
                          </a:solidFill>
                          <a:latin typeface="Montserrat"/>
                        </a:defRPr>
                      </a:pPr>
                      <a:r>
                        <a:t>Next.js: Crash Fatal</a:t>
                      </a:r>
                      <a:br/>
                      <a:r>
                        <a:t>POST /chaos/crash</a:t>
                      </a:r>
                    </a:p>
                  </a:txBody>
                  <a:tcPr>
                    <a:solidFill>
                      <a:srgbClr val="FFFFFF"/>
                    </a:solidFill>
                  </a:tcPr>
                </a:tc>
                <a:tc>
                  <a:txBody>
                    <a:bodyPr/>
                    <a:lstStyle/>
                    <a:p>
                      <a:pPr algn="ctr">
                        <a:defRPr sz="900">
                          <a:solidFill>
                            <a:srgbClr val="261E48"/>
                          </a:solidFill>
                          <a:latin typeface="Montserrat"/>
                        </a:defRPr>
                      </a:pPr>
                      <a:r>
                        <a:t>PASSE LE WAF</a:t>
                      </a:r>
                      <a:br/>
                      <a:r>
                        <a:t>(requête interne)</a:t>
                      </a:r>
                    </a:p>
                  </a:txBody>
                  <a:tcPr>
                    <a:solidFill>
                      <a:srgbClr val="FFFFFF"/>
                    </a:solidFill>
                  </a:tcPr>
                </a:tc>
                <a:tc>
                  <a:txBody>
                    <a:bodyPr/>
                    <a:lstStyle/>
                    <a:p>
                      <a:pPr>
                        <a:defRPr sz="900">
                          <a:solidFill>
                            <a:srgbClr val="261E48"/>
                          </a:solidFill>
                          <a:latin typeface="Montserrat"/>
                        </a:defRPr>
                      </a:pPr>
                      <a:r>
                        <a:t>Sortie conteneur (exit 1) ➔</a:t>
                      </a:r>
                      <a:br/>
                      <a:r>
                        <a:t>Sonde K8s recrée le pod</a:t>
                      </a:r>
                    </a:p>
                  </a:txBody>
                  <a:tcPr>
                    <a:solidFill>
                      <a:srgbClr val="FFFFFF"/>
                    </a:solidFill>
                  </a:tcPr>
                </a:tc>
                <a:tc>
                  <a:txBody>
                    <a:bodyPr/>
                    <a:lstStyle/>
                    <a:p>
                      <a:pPr algn="ctr">
                        <a:defRPr sz="900">
                          <a:solidFill>
                            <a:srgbClr val="261E48"/>
                          </a:solidFill>
                          <a:latin typeface="Montserrat"/>
                        </a:defRPr>
                      </a:pPr>
                      <a:r>
                        <a:t>Self-healing K8s</a:t>
                      </a:r>
                      <a:br/>
                      <a:r>
                        <a:t>en live</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Le Clip Chrono : 60 Secondes en Continu sans Coupe</a:t>
            </a:r>
          </a:p>
        </p:txBody>
      </p:sp>
      <p:sp>
        <p:nvSpPr>
          <p:cNvPr id="5" name="Rounded Rectangle 4"/>
          <p:cNvSpPr/>
          <p:nvPr/>
        </p:nvSpPr>
        <p:spPr>
          <a:xfrm>
            <a:off x="731520" y="1371600"/>
            <a:ext cx="2560320" cy="402336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2560320" cy="6858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00:00 - 00:12</a:t>
            </a:r>
          </a:p>
        </p:txBody>
      </p:sp>
      <p:sp>
        <p:nvSpPr>
          <p:cNvPr id="7" name="TextBox 6"/>
          <p:cNvSpPr txBox="1"/>
          <p:nvPr/>
        </p:nvSpPr>
        <p:spPr>
          <a:xfrm>
            <a:off x="822960" y="2148840"/>
            <a:ext cx="2377439" cy="3108960"/>
          </a:xfrm>
          <a:prstGeom prst="rect">
            <a:avLst/>
          </a:prstGeom>
          <a:noFill/>
        </p:spPr>
        <p:txBody>
          <a:bodyPr wrap="square">
            <a:spAutoFit/>
          </a:bodyPr>
          <a:lstStyle/>
          <a:p>
            <a:pPr>
              <a:defRPr sz="1200" b="1">
                <a:solidFill>
                  <a:srgbClr val="261E48"/>
                </a:solidFill>
                <a:latin typeface="Montserrat"/>
              </a:defRPr>
            </a:pPr>
            <a:r>
              <a:t>État Nominal Initial</a:t>
            </a:r>
          </a:p>
          <a:p>
            <a:pPr>
              <a:defRPr sz="1000">
                <a:solidFill>
                  <a:srgbClr val="261E48"/>
                </a:solidFill>
                <a:latin typeface="Montserrat"/>
              </a:defRPr>
            </a:pPr>
            <a:r>
              <a:t>• Terminal bancaire actif</a:t>
            </a:r>
          </a:p>
          <a:p>
            <a:pPr>
              <a:defRPr sz="1000">
                <a:solidFill>
                  <a:srgbClr val="261E48"/>
                </a:solidFill>
                <a:latin typeface="Montserrat"/>
              </a:defRPr>
            </a:pPr>
            <a:r>
              <a:t>• Transactions clients réussies</a:t>
            </a:r>
          </a:p>
          <a:p>
            <a:pPr>
              <a:defRPr sz="1000">
                <a:solidFill>
                  <a:srgbClr val="261E48"/>
                </a:solidFill>
                <a:latin typeface="Montserrat"/>
              </a:defRPr>
            </a:pPr>
            <a:r>
              <a:t>• Dashboard SOC au vert</a:t>
            </a:r>
          </a:p>
          <a:p>
            <a:pPr>
              <a:defRPr sz="1000">
                <a:solidFill>
                  <a:srgbClr val="261E48"/>
                </a:solidFill>
                <a:latin typeface="Montserrat"/>
              </a:defRPr>
            </a:pPr>
            <a:r>
              <a:t>• Latence nominale ~ 25 ms</a:t>
            </a:r>
          </a:p>
        </p:txBody>
      </p:sp>
      <p:sp>
        <p:nvSpPr>
          <p:cNvPr id="8" name="Rounded Rectangle 7"/>
          <p:cNvSpPr/>
          <p:nvPr/>
        </p:nvSpPr>
        <p:spPr>
          <a:xfrm>
            <a:off x="3447287" y="1371600"/>
            <a:ext cx="2560320" cy="402336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47287" y="1371600"/>
            <a:ext cx="2560320" cy="685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00:12 - 00:28</a:t>
            </a:r>
          </a:p>
        </p:txBody>
      </p:sp>
      <p:sp>
        <p:nvSpPr>
          <p:cNvPr id="10" name="TextBox 9"/>
          <p:cNvSpPr txBox="1"/>
          <p:nvPr/>
        </p:nvSpPr>
        <p:spPr>
          <a:xfrm>
            <a:off x="3538727" y="2148840"/>
            <a:ext cx="2377439" cy="3108960"/>
          </a:xfrm>
          <a:prstGeom prst="rect">
            <a:avLst/>
          </a:prstGeom>
          <a:noFill/>
        </p:spPr>
        <p:txBody>
          <a:bodyPr wrap="square">
            <a:spAutoFit/>
          </a:bodyPr>
          <a:lstStyle/>
          <a:p>
            <a:pPr>
              <a:defRPr sz="1200" b="1">
                <a:solidFill>
                  <a:srgbClr val="261E48"/>
                </a:solidFill>
                <a:latin typeface="Montserrat"/>
              </a:defRPr>
            </a:pPr>
            <a:r>
              <a:t>Déclenchement Attaque</a:t>
            </a:r>
          </a:p>
          <a:p>
            <a:pPr>
              <a:defRPr sz="1000">
                <a:solidFill>
                  <a:srgbClr val="261E48"/>
                </a:solidFill>
                <a:latin typeface="Montserrat"/>
              </a:defRPr>
            </a:pPr>
            <a:r>
              <a:t>• Lancement depuis PC Attaquant</a:t>
            </a:r>
          </a:p>
          <a:p>
            <a:pPr>
              <a:defRPr sz="1000">
                <a:solidFill>
                  <a:srgbClr val="261E48"/>
                </a:solidFill>
                <a:latin typeface="Montserrat"/>
              </a:defRPr>
            </a:pPr>
            <a:r>
              <a:t>• Trafic hostile injecté</a:t>
            </a:r>
          </a:p>
          <a:p>
            <a:pPr>
              <a:defRPr sz="1000">
                <a:solidFill>
                  <a:srgbClr val="261E48"/>
                </a:solidFill>
                <a:latin typeface="Montserrat"/>
              </a:defRPr>
            </a:pPr>
            <a:r>
              <a:t>• Passage dashboard à l'orange</a:t>
            </a:r>
          </a:p>
          <a:p>
            <a:pPr>
              <a:defRPr sz="1000">
                <a:solidFill>
                  <a:srgbClr val="261E48"/>
                </a:solidFill>
                <a:latin typeface="Montserrat"/>
              </a:defRPr>
            </a:pPr>
            <a:r>
              <a:t>• Explosion de la latence</a:t>
            </a:r>
          </a:p>
        </p:txBody>
      </p:sp>
      <p:sp>
        <p:nvSpPr>
          <p:cNvPr id="11" name="Rounded Rectangle 10"/>
          <p:cNvSpPr/>
          <p:nvPr/>
        </p:nvSpPr>
        <p:spPr>
          <a:xfrm>
            <a:off x="6163055" y="1371600"/>
            <a:ext cx="2560320" cy="402336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5" y="1371600"/>
            <a:ext cx="2560320" cy="685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00:28 - 00:46</a:t>
            </a:r>
          </a:p>
        </p:txBody>
      </p:sp>
      <p:sp>
        <p:nvSpPr>
          <p:cNvPr id="13" name="TextBox 12"/>
          <p:cNvSpPr txBox="1"/>
          <p:nvPr/>
        </p:nvSpPr>
        <p:spPr>
          <a:xfrm>
            <a:off x="6254495" y="2148840"/>
            <a:ext cx="2377439" cy="3108960"/>
          </a:xfrm>
          <a:prstGeom prst="rect">
            <a:avLst/>
          </a:prstGeom>
          <a:noFill/>
        </p:spPr>
        <p:txBody>
          <a:bodyPr wrap="square">
            <a:spAutoFit/>
          </a:bodyPr>
          <a:lstStyle/>
          <a:p>
            <a:pPr>
              <a:defRPr sz="1200" b="1">
                <a:solidFill>
                  <a:srgbClr val="261E48"/>
                </a:solidFill>
                <a:latin typeface="Montserrat"/>
              </a:defRPr>
            </a:pPr>
            <a:r>
              <a:t>Détection &amp; Auto-Guérison</a:t>
            </a:r>
          </a:p>
          <a:p>
            <a:pPr>
              <a:defRPr sz="1000">
                <a:solidFill>
                  <a:srgbClr val="261E48"/>
                </a:solidFill>
                <a:latin typeface="Montserrat"/>
              </a:defRPr>
            </a:pPr>
            <a:r>
              <a:t>• Alerte Machine Learning AIOps</a:t>
            </a:r>
          </a:p>
          <a:p>
            <a:pPr>
              <a:defRPr sz="1000">
                <a:solidFill>
                  <a:srgbClr val="261E48"/>
                </a:solidFill>
                <a:latin typeface="Montserrat"/>
              </a:defRPr>
            </a:pPr>
            <a:r>
              <a:t>• Webhook vers moteur de reprise</a:t>
            </a:r>
          </a:p>
          <a:p>
            <a:pPr>
              <a:defRPr sz="1000">
                <a:solidFill>
                  <a:srgbClr val="261E48"/>
                </a:solidFill>
                <a:latin typeface="Montserrat"/>
              </a:defRPr>
            </a:pPr>
            <a:r>
              <a:t>• K8s redémarre les pods altérés</a:t>
            </a:r>
          </a:p>
          <a:p>
            <a:pPr>
              <a:defRPr sz="1000">
                <a:solidFill>
                  <a:srgbClr val="261E48"/>
                </a:solidFill>
                <a:latin typeface="Montserrat"/>
              </a:defRPr>
            </a:pPr>
            <a:r>
              <a:t>• Zéro action humaine à l'écran</a:t>
            </a:r>
          </a:p>
        </p:txBody>
      </p:sp>
      <p:sp>
        <p:nvSpPr>
          <p:cNvPr id="14" name="Rounded Rectangle 13"/>
          <p:cNvSpPr/>
          <p:nvPr/>
        </p:nvSpPr>
        <p:spPr>
          <a:xfrm>
            <a:off x="8878824" y="1371600"/>
            <a:ext cx="2560320" cy="4023360"/>
          </a:xfrm>
          <a:prstGeom prst="roundRect">
            <a:avLst/>
          </a:prstGeom>
          <a:solidFill>
            <a:srgbClr val="FFFFFF"/>
          </a:solidFill>
          <a:ln w="25400">
            <a:solidFill>
              <a:srgbClr val="261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78824" y="1371600"/>
            <a:ext cx="2560320" cy="68580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00:46 - 01:00</a:t>
            </a:r>
          </a:p>
        </p:txBody>
      </p:sp>
      <p:sp>
        <p:nvSpPr>
          <p:cNvPr id="16" name="TextBox 15"/>
          <p:cNvSpPr txBox="1"/>
          <p:nvPr/>
        </p:nvSpPr>
        <p:spPr>
          <a:xfrm>
            <a:off x="8970264" y="2148840"/>
            <a:ext cx="2377439" cy="3108960"/>
          </a:xfrm>
          <a:prstGeom prst="rect">
            <a:avLst/>
          </a:prstGeom>
          <a:noFill/>
        </p:spPr>
        <p:txBody>
          <a:bodyPr wrap="square">
            <a:spAutoFit/>
          </a:bodyPr>
          <a:lstStyle/>
          <a:p>
            <a:pPr>
              <a:defRPr sz="1200" b="1">
                <a:solidFill>
                  <a:srgbClr val="261E48"/>
                </a:solidFill>
                <a:latin typeface="Montserrat"/>
              </a:defRPr>
            </a:pPr>
            <a:r>
              <a:t>Preuve par Transaction</a:t>
            </a:r>
          </a:p>
          <a:p>
            <a:pPr>
              <a:defRPr sz="1000">
                <a:solidFill>
                  <a:srgbClr val="261E48"/>
                </a:solidFill>
                <a:latin typeface="Montserrat"/>
              </a:defRPr>
            </a:pPr>
            <a:r>
              <a:t>• Service paiement de retour</a:t>
            </a:r>
          </a:p>
          <a:p>
            <a:pPr>
              <a:defRPr sz="1000">
                <a:solidFill>
                  <a:srgbClr val="261E48"/>
                </a:solidFill>
                <a:latin typeface="Montserrat"/>
              </a:defRPr>
            </a:pPr>
            <a:r>
              <a:t>• Nouvelle transaction validée</a:t>
            </a:r>
          </a:p>
          <a:p>
            <a:pPr>
              <a:defRPr sz="1000">
                <a:solidFill>
                  <a:srgbClr val="261E48"/>
                </a:solidFill>
                <a:latin typeface="Montserrat"/>
              </a:defRPr>
            </a:pPr>
            <a:r>
              <a:t>• Voyant vert et certification</a:t>
            </a:r>
          </a:p>
          <a:p>
            <a:pPr>
              <a:defRPr sz="1000">
                <a:solidFill>
                  <a:srgbClr val="261E48"/>
                </a:solidFill>
                <a:latin typeface="Montserrat"/>
              </a:defRPr>
            </a:pPr>
            <a:r>
              <a:t>• Service opérationnel !</a:t>
            </a:r>
          </a:p>
        </p:txBody>
      </p:sp>
      <p:sp>
        <p:nvSpPr>
          <p:cNvPr id="17" name="Rounded Rectangle 16"/>
          <p:cNvSpPr/>
          <p:nvPr/>
        </p:nvSpPr>
        <p:spPr>
          <a:xfrm>
            <a:off x="731520" y="5532120"/>
            <a:ext cx="10728655" cy="868680"/>
          </a:xfrm>
          <a:prstGeom prst="roundRect">
            <a:avLst/>
          </a:prstGeom>
          <a:solidFill>
            <a:srgbClr val="261E4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96128"/>
            <a:ext cx="10362895" cy="731520"/>
          </a:xfrm>
          <a:prstGeom prst="rect">
            <a:avLst/>
          </a:prstGeom>
          <a:noFill/>
        </p:spPr>
        <p:txBody>
          <a:bodyPr wrap="square">
            <a:spAutoFit/>
          </a:bodyPr>
          <a:lstStyle/>
          <a:p>
            <a:pPr>
              <a:defRPr sz="1050" b="1">
                <a:solidFill>
                  <a:srgbClr val="A1A6D4"/>
                </a:solidFill>
                <a:latin typeface="Montserrat"/>
              </a:defRPr>
            </a:pPr>
            <a:r>
              <a:t>CONFORMITÉ NATIONALE DU CLIP CHRONO (15 POINTS NATIONAUX / 4 POINTS LOCAUX) :</a:t>
            </a:r>
          </a:p>
          <a:p>
            <a:pPr>
              <a:defRPr sz="1050">
                <a:solidFill>
                  <a:srgbClr val="FFFFFF"/>
                </a:solidFill>
                <a:latin typeface="Montserrat"/>
              </a:defRPr>
            </a:pPr>
            <a:r>
              <a:t>Format MP4 strict, exactement 60 secondes, capture continue sans coupe, horodatage visible, bande sonore explicative et titrage clair.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Pilier GOUVERNANCE : Démarche d'Analyse de Risques EBIOS RM</a:t>
            </a:r>
          </a:p>
        </p:txBody>
      </p:sp>
      <p:sp>
        <p:nvSpPr>
          <p:cNvPr id="5" name="Rounded Rectangle 4"/>
          <p:cNvSpPr/>
          <p:nvPr/>
        </p:nvSpPr>
        <p:spPr>
          <a:xfrm>
            <a:off x="731520" y="1371600"/>
            <a:ext cx="2029968"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2029968" cy="73152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Atelier 1</a:t>
            </a:r>
          </a:p>
          <a:p>
            <a:pPr algn="ctr">
              <a:defRPr sz="850">
                <a:solidFill>
                  <a:srgbClr val="A1A6D4"/>
                </a:solidFill>
                <a:latin typeface="Montserrat"/>
              </a:defRPr>
            </a:pPr>
            <a:r>
              <a:t>Cadrage &amp; Socle</a:t>
            </a:r>
          </a:p>
        </p:txBody>
      </p:sp>
      <p:sp>
        <p:nvSpPr>
          <p:cNvPr id="7" name="TextBox 6"/>
          <p:cNvSpPr txBox="1"/>
          <p:nvPr/>
        </p:nvSpPr>
        <p:spPr>
          <a:xfrm>
            <a:off x="822960" y="2194560"/>
            <a:ext cx="1847088" cy="4023360"/>
          </a:xfrm>
          <a:prstGeom prst="rect">
            <a:avLst/>
          </a:prstGeom>
          <a:noFill/>
        </p:spPr>
        <p:txBody>
          <a:bodyPr wrap="square">
            <a:spAutoFit/>
          </a:bodyPr>
          <a:lstStyle/>
          <a:p>
            <a:pPr>
              <a:defRPr sz="950">
                <a:solidFill>
                  <a:srgbClr val="261E48"/>
                </a:solidFill>
                <a:latin typeface="Montserrat"/>
              </a:defRPr>
            </a:pPr>
            <a:r>
              <a:t>• Valeurs métiers : Traitement continu des paiements bancaires.</a:t>
            </a:r>
          </a:p>
          <a:p>
            <a:pPr>
              <a:defRPr sz="950">
                <a:solidFill>
                  <a:srgbClr val="261E48"/>
                </a:solidFill>
                <a:latin typeface="Montserrat"/>
              </a:defRPr>
            </a:pPr>
            <a:r>
              <a:t>• Biens supports : Pods FastAPI, base Postgres, Ingress WAF.</a:t>
            </a:r>
          </a:p>
          <a:p>
            <a:pPr>
              <a:defRPr sz="950">
                <a:solidFill>
                  <a:srgbClr val="261E48"/>
                </a:solidFill>
                <a:latin typeface="Montserrat"/>
              </a:defRPr>
            </a:pPr>
            <a:r>
              <a:t>• Événements redoutés : Perte de disponibilité &gt; 1 min, altération de transactions.</a:t>
            </a:r>
          </a:p>
        </p:txBody>
      </p:sp>
      <p:sp>
        <p:nvSpPr>
          <p:cNvPr id="8" name="Rounded Rectangle 7"/>
          <p:cNvSpPr/>
          <p:nvPr/>
        </p:nvSpPr>
        <p:spPr>
          <a:xfrm>
            <a:off x="2898648" y="1371600"/>
            <a:ext cx="2029968"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98648" y="1371600"/>
            <a:ext cx="2029968" cy="73152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Atelier 2</a:t>
            </a:r>
          </a:p>
          <a:p>
            <a:pPr algn="ctr">
              <a:defRPr sz="850">
                <a:solidFill>
                  <a:srgbClr val="A1A6D4"/>
                </a:solidFill>
                <a:latin typeface="Montserrat"/>
              </a:defRPr>
            </a:pPr>
            <a:r>
              <a:t>Sources de Risques</a:t>
            </a:r>
          </a:p>
        </p:txBody>
      </p:sp>
      <p:sp>
        <p:nvSpPr>
          <p:cNvPr id="10" name="TextBox 9"/>
          <p:cNvSpPr txBox="1"/>
          <p:nvPr/>
        </p:nvSpPr>
        <p:spPr>
          <a:xfrm>
            <a:off x="2990088" y="2194560"/>
            <a:ext cx="1847088" cy="4023360"/>
          </a:xfrm>
          <a:prstGeom prst="rect">
            <a:avLst/>
          </a:prstGeom>
          <a:noFill/>
        </p:spPr>
        <p:txBody>
          <a:bodyPr wrap="square">
            <a:spAutoFit/>
          </a:bodyPr>
          <a:lstStyle/>
          <a:p>
            <a:pPr>
              <a:defRPr sz="950">
                <a:solidFill>
                  <a:srgbClr val="261E48"/>
                </a:solidFill>
                <a:latin typeface="Montserrat"/>
              </a:defRPr>
            </a:pPr>
            <a:r>
              <a:t>• Cybercriminels motivés par l'extorsion et la rançon.</a:t>
            </a:r>
          </a:p>
          <a:p>
            <a:pPr>
              <a:defRPr sz="950">
                <a:solidFill>
                  <a:srgbClr val="261E48"/>
                </a:solidFill>
                <a:latin typeface="Montserrat"/>
              </a:defRPr>
            </a:pPr>
            <a:r>
              <a:t>• Concurrents déloyaux visant la déstabilisation d'image.</a:t>
            </a:r>
          </a:p>
          <a:p>
            <a:pPr>
              <a:defRPr sz="950">
                <a:solidFill>
                  <a:srgbClr val="261E48"/>
                </a:solidFill>
                <a:latin typeface="Montserrat"/>
              </a:defRPr>
            </a:pPr>
            <a:r>
              <a:t>• Hacktivistes ciblant les infrastructures financières critiques.</a:t>
            </a:r>
          </a:p>
        </p:txBody>
      </p:sp>
      <p:sp>
        <p:nvSpPr>
          <p:cNvPr id="11" name="Rounded Rectangle 10"/>
          <p:cNvSpPr/>
          <p:nvPr/>
        </p:nvSpPr>
        <p:spPr>
          <a:xfrm>
            <a:off x="5065776" y="1371600"/>
            <a:ext cx="2029968"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65776" y="1371600"/>
            <a:ext cx="2029968" cy="73152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Atelier 3</a:t>
            </a:r>
          </a:p>
          <a:p>
            <a:pPr algn="ctr">
              <a:defRPr sz="850">
                <a:solidFill>
                  <a:srgbClr val="A1A6D4"/>
                </a:solidFill>
                <a:latin typeface="Montserrat"/>
              </a:defRPr>
            </a:pPr>
            <a:r>
              <a:t>Scénarios Stratégiques</a:t>
            </a:r>
          </a:p>
        </p:txBody>
      </p:sp>
      <p:sp>
        <p:nvSpPr>
          <p:cNvPr id="13" name="TextBox 12"/>
          <p:cNvSpPr txBox="1"/>
          <p:nvPr/>
        </p:nvSpPr>
        <p:spPr>
          <a:xfrm>
            <a:off x="5157216" y="2194560"/>
            <a:ext cx="1847088" cy="4023360"/>
          </a:xfrm>
          <a:prstGeom prst="rect">
            <a:avLst/>
          </a:prstGeom>
          <a:noFill/>
        </p:spPr>
        <p:txBody>
          <a:bodyPr wrap="square">
            <a:spAutoFit/>
          </a:bodyPr>
          <a:lstStyle/>
          <a:p>
            <a:pPr>
              <a:defRPr sz="950">
                <a:solidFill>
                  <a:srgbClr val="261E48"/>
                </a:solidFill>
                <a:latin typeface="Montserrat"/>
              </a:defRPr>
            </a:pPr>
            <a:r>
              <a:t>• DDoS volumétrique sur l'API publique.</a:t>
            </a:r>
          </a:p>
          <a:p>
            <a:pPr>
              <a:defRPr sz="950">
                <a:solidFill>
                  <a:srgbClr val="261E48"/>
                </a:solidFill>
                <a:latin typeface="Montserrat"/>
              </a:defRPr>
            </a:pPr>
            <a:r>
              <a:t>• Asphyxie insidieuse des ressources serveur (Slowloris).</a:t>
            </a:r>
          </a:p>
          <a:p>
            <a:pPr>
              <a:defRPr sz="950">
                <a:solidFill>
                  <a:srgbClr val="261E48"/>
                </a:solidFill>
                <a:latin typeface="Montserrat"/>
              </a:defRPr>
            </a:pPr>
            <a:r>
              <a:t>• Compromission de secrets d'administration SOC.</a:t>
            </a:r>
          </a:p>
        </p:txBody>
      </p:sp>
      <p:sp>
        <p:nvSpPr>
          <p:cNvPr id="14" name="Rounded Rectangle 13"/>
          <p:cNvSpPr/>
          <p:nvPr/>
        </p:nvSpPr>
        <p:spPr>
          <a:xfrm>
            <a:off x="7232904" y="1371600"/>
            <a:ext cx="2029968"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32904" y="1371600"/>
            <a:ext cx="2029968" cy="73152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Atelier 4</a:t>
            </a:r>
          </a:p>
          <a:p>
            <a:pPr algn="ctr">
              <a:defRPr sz="850">
                <a:solidFill>
                  <a:srgbClr val="A1A6D4"/>
                </a:solidFill>
                <a:latin typeface="Montserrat"/>
              </a:defRPr>
            </a:pPr>
            <a:r>
              <a:t>Scénarios Opérationnels</a:t>
            </a:r>
          </a:p>
        </p:txBody>
      </p:sp>
      <p:sp>
        <p:nvSpPr>
          <p:cNvPr id="16" name="TextBox 15"/>
          <p:cNvSpPr txBox="1"/>
          <p:nvPr/>
        </p:nvSpPr>
        <p:spPr>
          <a:xfrm>
            <a:off x="7324344" y="2194560"/>
            <a:ext cx="1847088" cy="4023360"/>
          </a:xfrm>
          <a:prstGeom prst="rect">
            <a:avLst/>
          </a:prstGeom>
          <a:noFill/>
        </p:spPr>
        <p:txBody>
          <a:bodyPr wrap="square">
            <a:spAutoFit/>
          </a:bodyPr>
          <a:lstStyle/>
          <a:p>
            <a:pPr>
              <a:defRPr sz="950">
                <a:solidFill>
                  <a:srgbClr val="261E48"/>
                </a:solidFill>
                <a:latin typeface="Montserrat"/>
              </a:defRPr>
            </a:pPr>
            <a:r>
              <a:t>• Saturation des descripteurs de fichiers TCP.</a:t>
            </a:r>
          </a:p>
          <a:p>
            <a:pPr>
              <a:defRPr sz="950">
                <a:solidFill>
                  <a:srgbClr val="261E48"/>
                </a:solidFill>
                <a:latin typeface="Montserrat"/>
              </a:defRPr>
            </a:pPr>
            <a:r>
              <a:t>• Injection d'erreurs 500 par corruption de payload JSON.</a:t>
            </a:r>
          </a:p>
          <a:p>
            <a:pPr>
              <a:defRPr sz="950">
                <a:solidFill>
                  <a:srgbClr val="261E48"/>
                </a:solidFill>
                <a:latin typeface="Montserrat"/>
              </a:defRPr>
            </a:pPr>
            <a:r>
              <a:t>• Tentatives d'exfiltration via requêtes forgées.</a:t>
            </a:r>
          </a:p>
        </p:txBody>
      </p:sp>
      <p:sp>
        <p:nvSpPr>
          <p:cNvPr id="17" name="Rounded Rectangle 16"/>
          <p:cNvSpPr/>
          <p:nvPr/>
        </p:nvSpPr>
        <p:spPr>
          <a:xfrm>
            <a:off x="9400032" y="1371600"/>
            <a:ext cx="2029968"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00032" y="1371600"/>
            <a:ext cx="2029968" cy="73152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Atelier 5</a:t>
            </a:r>
          </a:p>
          <a:p>
            <a:pPr algn="ctr">
              <a:defRPr sz="850">
                <a:solidFill>
                  <a:srgbClr val="A1A6D4"/>
                </a:solidFill>
                <a:latin typeface="Montserrat"/>
              </a:defRPr>
            </a:pPr>
            <a:r>
              <a:t>Traitement du Risque</a:t>
            </a:r>
          </a:p>
        </p:txBody>
      </p:sp>
      <p:sp>
        <p:nvSpPr>
          <p:cNvPr id="19" name="TextBox 18"/>
          <p:cNvSpPr txBox="1"/>
          <p:nvPr/>
        </p:nvSpPr>
        <p:spPr>
          <a:xfrm>
            <a:off x="9491472" y="2194560"/>
            <a:ext cx="1847088" cy="4023360"/>
          </a:xfrm>
          <a:prstGeom prst="rect">
            <a:avLst/>
          </a:prstGeom>
          <a:noFill/>
        </p:spPr>
        <p:txBody>
          <a:bodyPr wrap="square">
            <a:spAutoFit/>
          </a:bodyPr>
          <a:lstStyle/>
          <a:p>
            <a:pPr>
              <a:defRPr sz="950">
                <a:solidFill>
                  <a:srgbClr val="261E48"/>
                </a:solidFill>
                <a:latin typeface="Montserrat"/>
              </a:defRPr>
            </a:pPr>
            <a:r>
              <a:t>• Prévention : Durcissement WAF L7 &amp; Rate Limiting.</a:t>
            </a:r>
          </a:p>
          <a:p>
            <a:pPr>
              <a:defRPr sz="950">
                <a:solidFill>
                  <a:srgbClr val="261E48"/>
                </a:solidFill>
                <a:latin typeface="Montserrat"/>
              </a:defRPr>
            </a:pPr>
            <a:r>
              <a:t>• Résilience : Détection AIOps &amp; Reprise Zero-Touch K8s.</a:t>
            </a:r>
          </a:p>
          <a:p>
            <a:pPr>
              <a:defRPr sz="950">
                <a:solidFill>
                  <a:srgbClr val="261E48"/>
                </a:solidFill>
                <a:latin typeface="Montserrat"/>
              </a:defRPr>
            </a:pPr>
            <a:r>
              <a:t>• Risque résiduel maîtrisé et accepté par la direction.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Gouvernance : Alignement Règlement DORA &amp; Directive NIS2</a:t>
            </a:r>
          </a:p>
        </p:txBody>
      </p:sp>
      <p:sp>
        <p:nvSpPr>
          <p:cNvPr id="5" name="Rounded Rectangle 4"/>
          <p:cNvSpPr/>
          <p:nvPr/>
        </p:nvSpPr>
        <p:spPr>
          <a:xfrm>
            <a:off x="731520" y="1371600"/>
            <a:ext cx="5212080"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663440"/>
          </a:xfrm>
          <a:prstGeom prst="rect">
            <a:avLst/>
          </a:prstGeom>
          <a:noFill/>
        </p:spPr>
        <p:txBody>
          <a:bodyPr wrap="square">
            <a:spAutoFit/>
          </a:bodyPr>
          <a:lstStyle/>
          <a:p>
            <a:pPr>
              <a:defRPr sz="1600" b="1">
                <a:solidFill>
                  <a:srgbClr val="261E48"/>
                </a:solidFill>
                <a:latin typeface="Montserrat"/>
              </a:defRPr>
            </a:pPr>
            <a:r>
              <a:t>Règlement DORA (Secteur Financier UE)</a:t>
            </a:r>
          </a:p>
          <a:p>
            <a:pPr>
              <a:defRPr sz="1100" b="1">
                <a:solidFill>
                  <a:srgbClr val="261E48"/>
                </a:solidFill>
                <a:latin typeface="Montserrat"/>
              </a:defRPr>
            </a:pPr>
            <a:r>
              <a:t>Article 6 — Gestion du risque TIC :</a:t>
            </a:r>
          </a:p>
          <a:p>
            <a:pPr>
              <a:defRPr sz="1000">
                <a:solidFill>
                  <a:srgbClr val="646482"/>
                </a:solidFill>
                <a:latin typeface="Montserrat"/>
              </a:defRPr>
            </a:pPr>
            <a:r>
              <a:t>Obligation de concevoir des systèmes tolérants aux pannes avec redondance active (3 réplicas API + HPA).</a:t>
            </a:r>
          </a:p>
          <a:p>
            <a:pPr>
              <a:defRPr sz="1100" b="1">
                <a:solidFill>
                  <a:srgbClr val="261E48"/>
                </a:solidFill>
                <a:latin typeface="Montserrat"/>
              </a:defRPr>
            </a:pPr>
            <a:r>
              <a:t>Article 17 — Notification des incidents majeurs :</a:t>
            </a:r>
          </a:p>
          <a:p>
            <a:pPr>
              <a:defRPr sz="1000">
                <a:solidFill>
                  <a:srgbClr val="646482"/>
                </a:solidFill>
                <a:latin typeface="Montserrat"/>
              </a:defRPr>
            </a:pPr>
            <a:r>
              <a:t>Collecte télémétrique temps réel, détection instantanée et génération de logs auditables Loki.</a:t>
            </a:r>
          </a:p>
          <a:p>
            <a:pPr>
              <a:defRPr sz="1100" b="1">
                <a:solidFill>
                  <a:srgbClr val="261E48"/>
                </a:solidFill>
                <a:latin typeface="Montserrat"/>
              </a:defRPr>
            </a:pPr>
            <a:r>
              <a:t>Article 24 — Tests de résilience opérationnelle :</a:t>
            </a:r>
          </a:p>
          <a:p>
            <a:pPr>
              <a:defRPr sz="1000">
                <a:solidFill>
                  <a:srgbClr val="646482"/>
                </a:solidFill>
                <a:latin typeface="Montserrat"/>
              </a:defRPr>
            </a:pPr>
            <a:r>
              <a:t>Campagnes régulières d'attaques Red Team et de Chaos Engineering automatisées.</a:t>
            </a:r>
          </a:p>
          <a:p>
            <a:pPr>
              <a:defRPr sz="1100" b="1">
                <a:solidFill>
                  <a:srgbClr val="261E48"/>
                </a:solidFill>
                <a:latin typeface="Montserrat"/>
              </a:defRPr>
            </a:pPr>
            <a:r>
              <a:t>Article 28 — Gestion des risques liés aux tiers :</a:t>
            </a:r>
          </a:p>
          <a:p>
            <a:pPr>
              <a:defRPr sz="1000">
                <a:solidFill>
                  <a:srgbClr val="646482"/>
                </a:solidFill>
                <a:latin typeface="Montserrat"/>
              </a:defRPr>
            </a:pPr>
            <a:r>
              <a:t>Filtrage et étanchéité stricts des flux API d'interconnexion bancaire via WAF L7.</a:t>
            </a:r>
          </a:p>
        </p:txBody>
      </p:sp>
      <p:sp>
        <p:nvSpPr>
          <p:cNvPr id="7" name="Rounded Rectangle 6"/>
          <p:cNvSpPr/>
          <p:nvPr/>
        </p:nvSpPr>
        <p:spPr>
          <a:xfrm>
            <a:off x="6217920" y="1371600"/>
            <a:ext cx="5242255" cy="5029200"/>
          </a:xfrm>
          <a:prstGeom prst="roundRect">
            <a:avLst/>
          </a:prstGeom>
          <a:solidFill>
            <a:srgbClr val="F1F2FA"/>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76495" cy="4663440"/>
          </a:xfrm>
          <a:prstGeom prst="rect">
            <a:avLst/>
          </a:prstGeom>
          <a:noFill/>
        </p:spPr>
        <p:txBody>
          <a:bodyPr wrap="square">
            <a:spAutoFit/>
          </a:bodyPr>
          <a:lstStyle/>
          <a:p>
            <a:pPr>
              <a:defRPr sz="1600" b="1">
                <a:solidFill>
                  <a:srgbClr val="261E48"/>
                </a:solidFill>
                <a:latin typeface="Montserrat"/>
              </a:defRPr>
            </a:pPr>
            <a:r>
              <a:t>Directive NIS2 &amp; Hygiène ANSSI</a:t>
            </a:r>
          </a:p>
          <a:p>
            <a:pPr>
              <a:defRPr sz="1100" b="1">
                <a:solidFill>
                  <a:srgbClr val="261E48"/>
                </a:solidFill>
                <a:latin typeface="Montserrat"/>
              </a:defRPr>
            </a:pPr>
            <a:r>
              <a:t>Entités Essentielles / Importantes :</a:t>
            </a:r>
          </a:p>
          <a:p>
            <a:pPr>
              <a:defRPr sz="1000">
                <a:solidFill>
                  <a:srgbClr val="261E48"/>
                </a:solidFill>
                <a:latin typeface="Montserrat"/>
              </a:defRPr>
            </a:pPr>
            <a:r>
              <a:t>Les opérateurs de paiement relèvent des critères de haute criticité de la directive européenne NIS2.</a:t>
            </a:r>
          </a:p>
          <a:p>
            <a:pPr>
              <a:defRPr sz="1100" b="1">
                <a:solidFill>
                  <a:srgbClr val="261E48"/>
                </a:solidFill>
                <a:latin typeface="Montserrat"/>
              </a:defRPr>
            </a:pPr>
            <a:r>
              <a:t>Délais de Déclaration Stricts :</a:t>
            </a:r>
          </a:p>
          <a:p>
            <a:pPr>
              <a:defRPr sz="1000">
                <a:solidFill>
                  <a:srgbClr val="261E48"/>
                </a:solidFill>
                <a:latin typeface="Montserrat"/>
              </a:defRPr>
            </a:pPr>
            <a:r>
              <a:t>Obligation de signalement d'un incident significatif à l'ANSSI sous 24 heures (alerte précoce) et 72 heures (rapport détaillé).</a:t>
            </a:r>
          </a:p>
          <a:p>
            <a:pPr>
              <a:defRPr sz="1100" b="1">
                <a:solidFill>
                  <a:srgbClr val="261E48"/>
                </a:solidFill>
                <a:latin typeface="Montserrat"/>
              </a:defRPr>
            </a:pPr>
            <a:r>
              <a:t>Cloisonnement &amp; Moindre Privilège :</a:t>
            </a:r>
          </a:p>
          <a:p>
            <a:pPr>
              <a:defRPr sz="1000">
                <a:solidFill>
                  <a:srgbClr val="261E48"/>
                </a:solidFill>
                <a:latin typeface="Montserrat"/>
              </a:defRPr>
            </a:pPr>
            <a:r>
              <a:t>Mise en œuvre du principe Zero-Trust : jetons JWT pour l'administration SOC, ports internes isolés à 127.0.0.1.</a:t>
            </a:r>
          </a:p>
          <a:p>
            <a:pPr>
              <a:defRPr sz="1100" b="1">
                <a:solidFill>
                  <a:srgbClr val="261E48"/>
                </a:solidFill>
                <a:latin typeface="Montserrat"/>
              </a:defRPr>
            </a:pPr>
            <a:r>
              <a:t>Responsabilité de la Gouvernance :</a:t>
            </a:r>
          </a:p>
          <a:p>
            <a:pPr>
              <a:defRPr sz="1000">
                <a:solidFill>
                  <a:srgbClr val="261E48"/>
                </a:solidFill>
                <a:latin typeface="Montserrat"/>
              </a:defRPr>
            </a:pPr>
            <a:r>
              <a:t>La direction doit approuver et auditer régulièrement le PCA/PRA et les résultats de cyber-résilience.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PCA / PRA Métier &amp; Recommandations Stratégiques</a:t>
            </a:r>
          </a:p>
        </p:txBody>
      </p:sp>
      <p:sp>
        <p:nvSpPr>
          <p:cNvPr id="5" name="Rounded Rectangle 4"/>
          <p:cNvSpPr/>
          <p:nvPr/>
        </p:nvSpPr>
        <p:spPr>
          <a:xfrm>
            <a:off x="731520" y="1371600"/>
            <a:ext cx="5212080" cy="5029200"/>
          </a:xfrm>
          <a:prstGeom prst="roundRect">
            <a:avLst/>
          </a:prstGeom>
          <a:solidFill>
            <a:srgbClr val="261E4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663440"/>
          </a:xfrm>
          <a:prstGeom prst="rect">
            <a:avLst/>
          </a:prstGeom>
          <a:noFill/>
        </p:spPr>
        <p:txBody>
          <a:bodyPr wrap="square">
            <a:spAutoFit/>
          </a:bodyPr>
          <a:lstStyle/>
          <a:p>
            <a:pPr>
              <a:defRPr sz="1600" b="1">
                <a:solidFill>
                  <a:srgbClr val="FFFFFF"/>
                </a:solidFill>
                <a:latin typeface="Montserrat"/>
              </a:defRPr>
            </a:pPr>
            <a:r>
              <a:t>Métriques Cibles du PCA / PRA</a:t>
            </a:r>
          </a:p>
          <a:p>
            <a:pPr>
              <a:defRPr sz="1100" b="1">
                <a:solidFill>
                  <a:srgbClr val="A1A6D4"/>
                </a:solidFill>
                <a:latin typeface="Montserrat"/>
              </a:defRPr>
            </a:pPr>
            <a:r>
              <a:t>RTO Constaté (Temps de Reprise) :</a:t>
            </a:r>
          </a:p>
          <a:p>
            <a:pPr>
              <a:defRPr sz="1600" b="1">
                <a:solidFill>
                  <a:srgbClr val="16A34A"/>
                </a:solidFill>
                <a:latin typeface="Montserrat"/>
              </a:defRPr>
            </a:pPr>
            <a:r>
              <a:t>&lt; 20 secondes</a:t>
            </a:r>
          </a:p>
          <a:p>
            <a:pPr>
              <a:defRPr sz="950">
                <a:solidFill>
                  <a:srgbClr val="FFFFFF"/>
                </a:solidFill>
                <a:latin typeface="Montserrat"/>
              </a:defRPr>
            </a:pPr>
            <a:r>
              <a:t>Alors que les interventions manuelles prennent entre 15 et 45 minutes, le Zero-Touch divise le temps d'arrêt par 50.</a:t>
            </a:r>
          </a:p>
          <a:p>
            <a:pPr>
              <a:defRPr sz="1100" b="1">
                <a:solidFill>
                  <a:srgbClr val="A1A6D4"/>
                </a:solidFill>
                <a:latin typeface="Montserrat"/>
              </a:defRPr>
            </a:pPr>
            <a:r>
              <a:t>RPO Constaté (Perte de Données) :</a:t>
            </a:r>
          </a:p>
          <a:p>
            <a:pPr>
              <a:defRPr sz="1600" b="1">
                <a:solidFill>
                  <a:srgbClr val="16A34A"/>
                </a:solidFill>
                <a:latin typeface="Montserrat"/>
              </a:defRPr>
            </a:pPr>
            <a:r>
              <a:t>= 0 seconde</a:t>
            </a:r>
          </a:p>
          <a:p>
            <a:pPr>
              <a:defRPr sz="950">
                <a:solidFill>
                  <a:srgbClr val="FFFFFF"/>
                </a:solidFill>
                <a:latin typeface="Montserrat"/>
              </a:defRPr>
            </a:pPr>
            <a:r>
              <a:t>Grâce à l'idempotence des transactions et à la persistance PostgreSQL transactionnelle ACID.</a:t>
            </a:r>
          </a:p>
          <a:p>
            <a:pPr>
              <a:defRPr sz="1100" b="1">
                <a:solidFill>
                  <a:srgbClr val="A1A6D4"/>
                </a:solidFill>
                <a:latin typeface="Montserrat"/>
              </a:defRPr>
            </a:pPr>
            <a:r>
              <a:t>Disponibilité Cible Démontrée :</a:t>
            </a:r>
          </a:p>
          <a:p>
            <a:pPr>
              <a:defRPr sz="1600" b="1">
                <a:solidFill>
                  <a:srgbClr val="16A34A"/>
                </a:solidFill>
                <a:latin typeface="Montserrat"/>
              </a:defRPr>
            </a:pPr>
            <a:r>
              <a:t>99.95 %</a:t>
            </a:r>
          </a:p>
          <a:p>
            <a:pPr>
              <a:defRPr sz="950">
                <a:solidFill>
                  <a:srgbClr val="FFFFFF"/>
                </a:solidFill>
                <a:latin typeface="Montserrat"/>
              </a:defRPr>
            </a:pPr>
            <a:r>
              <a:t>Haute disponibilité assurée par le multi-pods et l'auto-scaling HPA sous Kubernetes.</a:t>
            </a:r>
          </a:p>
        </p:txBody>
      </p:sp>
      <p:sp>
        <p:nvSpPr>
          <p:cNvPr id="7" name="Rounded Rectangle 6"/>
          <p:cNvSpPr/>
          <p:nvPr/>
        </p:nvSpPr>
        <p:spPr>
          <a:xfrm>
            <a:off x="6217920" y="1371600"/>
            <a:ext cx="5242255" cy="502920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76495" cy="4663440"/>
          </a:xfrm>
          <a:prstGeom prst="rect">
            <a:avLst/>
          </a:prstGeom>
          <a:noFill/>
        </p:spPr>
        <p:txBody>
          <a:bodyPr wrap="square">
            <a:spAutoFit/>
          </a:bodyPr>
          <a:lstStyle/>
          <a:p>
            <a:pPr>
              <a:defRPr sz="1600" b="1">
                <a:solidFill>
                  <a:srgbClr val="261E48"/>
                </a:solidFill>
                <a:latin typeface="Montserrat"/>
              </a:defRPr>
            </a:pPr>
            <a:r>
              <a:t>Recommandations à la Direction Générale</a:t>
            </a:r>
          </a:p>
          <a:p>
            <a:pPr>
              <a:defRPr sz="1100" b="1">
                <a:solidFill>
                  <a:srgbClr val="261E48"/>
                </a:solidFill>
                <a:latin typeface="Montserrat"/>
              </a:defRPr>
            </a:pPr>
            <a:r>
              <a:t>1. Industrialiser l'AIOps en Production :</a:t>
            </a:r>
          </a:p>
          <a:p>
            <a:pPr>
              <a:defRPr sz="1000">
                <a:solidFill>
                  <a:srgbClr val="646482"/>
                </a:solidFill>
                <a:latin typeface="Montserrat"/>
              </a:defRPr>
            </a:pPr>
            <a:r>
              <a:t>Étendre le modèle Isolation Forest à l'ensemble des passerelles bancaires et microservices de facturation.</a:t>
            </a:r>
          </a:p>
          <a:p>
            <a:pPr>
              <a:defRPr sz="1100" b="1">
                <a:solidFill>
                  <a:srgbClr val="261E48"/>
                </a:solidFill>
                <a:latin typeface="Montserrat"/>
              </a:defRPr>
            </a:pPr>
            <a:r>
              <a:t>2. Déployer une Architecture Multi-Régions :</a:t>
            </a:r>
          </a:p>
          <a:p>
            <a:pPr>
              <a:defRPr sz="1000">
                <a:solidFill>
                  <a:srgbClr val="646482"/>
                </a:solidFill>
                <a:latin typeface="Montserrat"/>
              </a:defRPr>
            </a:pPr>
            <a:r>
              <a:t>Répliquer les clusters Kubernetes sur deux zones de disponibilité distinctes pour résister à une panne physique de datacenter.</a:t>
            </a:r>
          </a:p>
          <a:p>
            <a:pPr>
              <a:defRPr sz="1100" b="1">
                <a:solidFill>
                  <a:srgbClr val="261E48"/>
                </a:solidFill>
                <a:latin typeface="Montserrat"/>
              </a:defRPr>
            </a:pPr>
            <a:r>
              <a:t>3. Intégrer le Chaos Engineering en CI/CD :</a:t>
            </a:r>
          </a:p>
          <a:p>
            <a:pPr>
              <a:defRPr sz="1000">
                <a:solidFill>
                  <a:srgbClr val="646482"/>
                </a:solidFill>
                <a:latin typeface="Montserrat"/>
              </a:defRPr>
            </a:pPr>
            <a:r>
              <a:t>Injecter automatiquement des pannes contrôlées à chaque release pour éprouver la non-régression de l'auto-guérison.</a:t>
            </a:r>
          </a:p>
          <a:p>
            <a:pPr>
              <a:defRPr sz="1100" b="1">
                <a:solidFill>
                  <a:srgbClr val="261E48"/>
                </a:solidFill>
                <a:latin typeface="Montserrat"/>
              </a:defRPr>
            </a:pPr>
            <a:r>
              <a:t>4. Gestionnaire de Secrets d'Entreprise :</a:t>
            </a:r>
          </a:p>
          <a:p>
            <a:pPr>
              <a:defRPr sz="1000">
                <a:solidFill>
                  <a:srgbClr val="646482"/>
                </a:solidFill>
                <a:latin typeface="Montserrat"/>
              </a:defRPr>
            </a:pPr>
            <a:r>
              <a:t>Migrer vers HashiCorp Vault pour la rotation dynamique des certificats et des secrets applicatifs.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A1A6D4"/>
                </a:solidFill>
                <a:latin typeface="Montserrat"/>
              </a:defRPr>
            </a:pPr>
            <a:r>
              <a:t>WORKSHOP M2 EPSI • PROJECT RESILIENCE-ALPHA</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261E48"/>
                </a:solidFill>
                <a:latin typeface="Montserrat"/>
              </a:defRPr>
            </a:pPr>
            <a:r>
              <a:t>Bilan du Sprint : Synergie d'Équipe &amp; Maîtrise Technique</a:t>
            </a:r>
          </a:p>
        </p:txBody>
      </p:sp>
      <p:sp>
        <p:nvSpPr>
          <p:cNvPr id="5" name="Rounded Rectangle 4"/>
          <p:cNvSpPr/>
          <p:nvPr/>
        </p:nvSpPr>
        <p:spPr>
          <a:xfrm>
            <a:off x="731520" y="1371600"/>
            <a:ext cx="2029968" cy="402336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2029968" cy="68580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Théo</a:t>
            </a:r>
          </a:p>
          <a:p>
            <a:pPr algn="ctr">
              <a:defRPr sz="850">
                <a:solidFill>
                  <a:srgbClr val="A1A6D4"/>
                </a:solidFill>
                <a:latin typeface="Montserrat"/>
              </a:defRPr>
            </a:pPr>
            <a:r>
              <a:t>Architecture &amp; K8s</a:t>
            </a:r>
          </a:p>
        </p:txBody>
      </p:sp>
      <p:sp>
        <p:nvSpPr>
          <p:cNvPr id="7" name="TextBox 6"/>
          <p:cNvSpPr txBox="1"/>
          <p:nvPr/>
        </p:nvSpPr>
        <p:spPr>
          <a:xfrm>
            <a:off x="822960" y="2148840"/>
            <a:ext cx="1847088" cy="3108960"/>
          </a:xfrm>
          <a:prstGeom prst="rect">
            <a:avLst/>
          </a:prstGeom>
          <a:noFill/>
        </p:spPr>
        <p:txBody>
          <a:bodyPr wrap="square">
            <a:spAutoFit/>
          </a:bodyPr>
          <a:lstStyle/>
          <a:p>
            <a:pPr>
              <a:defRPr sz="950">
                <a:solidFill>
                  <a:srgbClr val="261E48"/>
                </a:solidFill>
                <a:latin typeface="Montserrat"/>
              </a:defRPr>
            </a:pPr>
            <a:r>
              <a:t>✓ Conception Helm Chart &amp; manifests K8s.</a:t>
            </a:r>
          </a:p>
          <a:p>
            <a:pPr>
              <a:defRPr sz="950">
                <a:solidFill>
                  <a:srgbClr val="261E48"/>
                </a:solidFill>
                <a:latin typeface="Montserrat"/>
              </a:defRPr>
            </a:pPr>
            <a:r>
              <a:t>✓ Configuration Kind, Ingress &amp; HPA.</a:t>
            </a:r>
          </a:p>
          <a:p>
            <a:pPr>
              <a:defRPr sz="950">
                <a:solidFill>
                  <a:srgbClr val="261E48"/>
                </a:solidFill>
                <a:latin typeface="Montserrat"/>
              </a:defRPr>
            </a:pPr>
            <a:r>
              <a:t>✓ Automatisation Ansible &amp; déploiement.</a:t>
            </a:r>
          </a:p>
          <a:p>
            <a:pPr>
              <a:defRPr sz="950">
                <a:solidFill>
                  <a:srgbClr val="261E48"/>
                </a:solidFill>
                <a:latin typeface="Montserrat"/>
              </a:defRPr>
            </a:pPr>
            <a:r>
              <a:t>✓ Orchestration et tests de charge.</a:t>
            </a:r>
          </a:p>
        </p:txBody>
      </p:sp>
      <p:sp>
        <p:nvSpPr>
          <p:cNvPr id="8" name="Rounded Rectangle 7"/>
          <p:cNvSpPr/>
          <p:nvPr/>
        </p:nvSpPr>
        <p:spPr>
          <a:xfrm>
            <a:off x="2898648" y="1371600"/>
            <a:ext cx="2029968" cy="402336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98648" y="1371600"/>
            <a:ext cx="2029968" cy="68580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Mael</a:t>
            </a:r>
          </a:p>
          <a:p>
            <a:pPr algn="ctr">
              <a:defRPr sz="850">
                <a:solidFill>
                  <a:srgbClr val="A1A6D4"/>
                </a:solidFill>
                <a:latin typeface="Montserrat"/>
              </a:defRPr>
            </a:pPr>
            <a:r>
              <a:t>Développement Métier</a:t>
            </a:r>
          </a:p>
        </p:txBody>
      </p:sp>
      <p:sp>
        <p:nvSpPr>
          <p:cNvPr id="10" name="TextBox 9"/>
          <p:cNvSpPr txBox="1"/>
          <p:nvPr/>
        </p:nvSpPr>
        <p:spPr>
          <a:xfrm>
            <a:off x="2990088" y="2148840"/>
            <a:ext cx="1847088" cy="3108960"/>
          </a:xfrm>
          <a:prstGeom prst="rect">
            <a:avLst/>
          </a:prstGeom>
          <a:noFill/>
        </p:spPr>
        <p:txBody>
          <a:bodyPr wrap="square">
            <a:spAutoFit/>
          </a:bodyPr>
          <a:lstStyle/>
          <a:p>
            <a:pPr>
              <a:defRPr sz="950">
                <a:solidFill>
                  <a:srgbClr val="261E48"/>
                </a:solidFill>
                <a:latin typeface="Montserrat"/>
              </a:defRPr>
            </a:pPr>
            <a:r>
              <a:t>✓ Développement FastAPI Payment API.</a:t>
            </a:r>
          </a:p>
          <a:p>
            <a:pPr>
              <a:defRPr sz="950">
                <a:solidFill>
                  <a:srgbClr val="261E48"/>
                </a:solidFill>
                <a:latin typeface="Montserrat"/>
              </a:defRPr>
            </a:pPr>
            <a:r>
              <a:t>✓ Modélisation PostgreSQL &amp; idempotence.</a:t>
            </a:r>
          </a:p>
          <a:p>
            <a:pPr>
              <a:defRPr sz="950">
                <a:solidFill>
                  <a:srgbClr val="261E48"/>
                </a:solidFill>
                <a:latin typeface="Montserrat"/>
              </a:defRPr>
            </a:pPr>
            <a:r>
              <a:t>✓ Microservice Auth JWT Bearer.</a:t>
            </a:r>
          </a:p>
          <a:p>
            <a:pPr>
              <a:defRPr sz="950">
                <a:solidFill>
                  <a:srgbClr val="261E48"/>
                </a:solidFill>
                <a:latin typeface="Montserrat"/>
              </a:defRPr>
            </a:pPr>
            <a:r>
              <a:t>✓ Frontend React/Tailwind &amp; API Docs.</a:t>
            </a:r>
          </a:p>
        </p:txBody>
      </p:sp>
      <p:sp>
        <p:nvSpPr>
          <p:cNvPr id="11" name="Rounded Rectangle 10"/>
          <p:cNvSpPr/>
          <p:nvPr/>
        </p:nvSpPr>
        <p:spPr>
          <a:xfrm>
            <a:off x="5065776" y="1371600"/>
            <a:ext cx="2029968" cy="402336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65776" y="1371600"/>
            <a:ext cx="2029968" cy="68580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Flora</a:t>
            </a:r>
          </a:p>
          <a:p>
            <a:pPr algn="ctr">
              <a:defRPr sz="850">
                <a:solidFill>
                  <a:srgbClr val="A1A6D4"/>
                </a:solidFill>
                <a:latin typeface="Montserrat"/>
              </a:defRPr>
            </a:pPr>
            <a:r>
              <a:t>Cybersécurité &amp; WAF</a:t>
            </a:r>
          </a:p>
        </p:txBody>
      </p:sp>
      <p:sp>
        <p:nvSpPr>
          <p:cNvPr id="13" name="TextBox 12"/>
          <p:cNvSpPr txBox="1"/>
          <p:nvPr/>
        </p:nvSpPr>
        <p:spPr>
          <a:xfrm>
            <a:off x="5157216" y="2148840"/>
            <a:ext cx="1847088" cy="3108960"/>
          </a:xfrm>
          <a:prstGeom prst="rect">
            <a:avLst/>
          </a:prstGeom>
          <a:noFill/>
        </p:spPr>
        <p:txBody>
          <a:bodyPr wrap="square">
            <a:spAutoFit/>
          </a:bodyPr>
          <a:lstStyle/>
          <a:p>
            <a:pPr>
              <a:defRPr sz="950">
                <a:solidFill>
                  <a:srgbClr val="261E48"/>
                </a:solidFill>
                <a:latin typeface="Montserrat"/>
              </a:defRPr>
            </a:pPr>
            <a:r>
              <a:t>✓ Configuration durcie Nginx WAF L7.</a:t>
            </a:r>
          </a:p>
          <a:p>
            <a:pPr>
              <a:defRPr sz="950">
                <a:solidFill>
                  <a:srgbClr val="261E48"/>
                </a:solidFill>
                <a:latin typeface="Montserrat"/>
              </a:defRPr>
            </a:pPr>
            <a:r>
              <a:t>✓ Règles anti-scanners &amp; rate limiting.</a:t>
            </a:r>
          </a:p>
          <a:p>
            <a:pPr>
              <a:defRPr sz="950">
                <a:solidFill>
                  <a:srgbClr val="261E48"/>
                </a:solidFill>
                <a:latin typeface="Montserrat"/>
              </a:defRPr>
            </a:pPr>
            <a:r>
              <a:t>✓ Développement console Red Team.</a:t>
            </a:r>
          </a:p>
          <a:p>
            <a:pPr>
              <a:defRPr sz="950">
                <a:solidFill>
                  <a:srgbClr val="261E48"/>
                </a:solidFill>
                <a:latin typeface="Montserrat"/>
              </a:defRPr>
            </a:pPr>
            <a:r>
              <a:t>✓ Audit sécurité &amp; brèche WAF bypass.</a:t>
            </a:r>
          </a:p>
        </p:txBody>
      </p:sp>
      <p:sp>
        <p:nvSpPr>
          <p:cNvPr id="14" name="Rounded Rectangle 13"/>
          <p:cNvSpPr/>
          <p:nvPr/>
        </p:nvSpPr>
        <p:spPr>
          <a:xfrm>
            <a:off x="7232904" y="1371600"/>
            <a:ext cx="2029968" cy="402336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32904" y="1371600"/>
            <a:ext cx="2029968" cy="68580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Fely</a:t>
            </a:r>
          </a:p>
          <a:p>
            <a:pPr algn="ctr">
              <a:defRPr sz="850">
                <a:solidFill>
                  <a:srgbClr val="A1A6D4"/>
                </a:solidFill>
                <a:latin typeface="Montserrat"/>
              </a:defRPr>
            </a:pPr>
            <a:r>
              <a:t>IA / DATA &amp; AIOps</a:t>
            </a:r>
          </a:p>
        </p:txBody>
      </p:sp>
      <p:sp>
        <p:nvSpPr>
          <p:cNvPr id="16" name="TextBox 15"/>
          <p:cNvSpPr txBox="1"/>
          <p:nvPr/>
        </p:nvSpPr>
        <p:spPr>
          <a:xfrm>
            <a:off x="7324344" y="2148840"/>
            <a:ext cx="1847088" cy="3108960"/>
          </a:xfrm>
          <a:prstGeom prst="rect">
            <a:avLst/>
          </a:prstGeom>
          <a:noFill/>
        </p:spPr>
        <p:txBody>
          <a:bodyPr wrap="square">
            <a:spAutoFit/>
          </a:bodyPr>
          <a:lstStyle/>
          <a:p>
            <a:pPr>
              <a:defRPr sz="950">
                <a:solidFill>
                  <a:srgbClr val="261E48"/>
                </a:solidFill>
                <a:latin typeface="Montserrat"/>
              </a:defRPr>
            </a:pPr>
            <a:r>
              <a:t>✓ Algorithme ML Isolation Forest.</a:t>
            </a:r>
          </a:p>
          <a:p>
            <a:pPr>
              <a:defRPr sz="950">
                <a:solidFill>
                  <a:srgbClr val="261E48"/>
                </a:solidFill>
                <a:latin typeface="Montserrat"/>
              </a:defRPr>
            </a:pPr>
            <a:r>
              <a:t>✓ Génération baseline &amp; entraînement.</a:t>
            </a:r>
          </a:p>
          <a:p>
            <a:pPr>
              <a:defRPr sz="950">
                <a:solidFill>
                  <a:srgbClr val="261E48"/>
                </a:solidFill>
                <a:latin typeface="Montserrat"/>
              </a:defRPr>
            </a:pPr>
            <a:r>
              <a:t>✓ Boucle temps réel &amp; connecteur webhook.</a:t>
            </a:r>
          </a:p>
          <a:p>
            <a:pPr>
              <a:defRPr sz="950">
                <a:solidFill>
                  <a:srgbClr val="261E48"/>
                </a:solidFill>
                <a:latin typeface="Montserrat"/>
              </a:defRPr>
            </a:pPr>
            <a:r>
              <a:t>✓ Assistant local RAG Ollama / LangChain.</a:t>
            </a:r>
          </a:p>
        </p:txBody>
      </p:sp>
      <p:sp>
        <p:nvSpPr>
          <p:cNvPr id="17" name="Rounded Rectangle 16"/>
          <p:cNvSpPr/>
          <p:nvPr/>
        </p:nvSpPr>
        <p:spPr>
          <a:xfrm>
            <a:off x="9400032" y="1371600"/>
            <a:ext cx="2029968" cy="4023360"/>
          </a:xfrm>
          <a:prstGeom prst="roundRect">
            <a:avLst/>
          </a:prstGeom>
          <a:solidFill>
            <a:srgbClr val="FFFFFF"/>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00032" y="1371600"/>
            <a:ext cx="2029968" cy="68580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ontserrat"/>
              </a:defRPr>
            </a:pPr>
            <a:r>
              <a:t>Aymeric</a:t>
            </a:r>
          </a:p>
          <a:p>
            <a:pPr algn="ctr">
              <a:defRPr sz="850">
                <a:solidFill>
                  <a:srgbClr val="A1A6D4"/>
                </a:solidFill>
                <a:latin typeface="Montserrat"/>
              </a:defRPr>
            </a:pPr>
            <a:r>
              <a:t>Gouvernance &amp; Risques</a:t>
            </a:r>
          </a:p>
        </p:txBody>
      </p:sp>
      <p:sp>
        <p:nvSpPr>
          <p:cNvPr id="19" name="TextBox 18"/>
          <p:cNvSpPr txBox="1"/>
          <p:nvPr/>
        </p:nvSpPr>
        <p:spPr>
          <a:xfrm>
            <a:off x="9491472" y="2148840"/>
            <a:ext cx="1847088" cy="3108960"/>
          </a:xfrm>
          <a:prstGeom prst="rect">
            <a:avLst/>
          </a:prstGeom>
          <a:noFill/>
        </p:spPr>
        <p:txBody>
          <a:bodyPr wrap="square">
            <a:spAutoFit/>
          </a:bodyPr>
          <a:lstStyle/>
          <a:p>
            <a:pPr>
              <a:defRPr sz="950">
                <a:solidFill>
                  <a:srgbClr val="261E48"/>
                </a:solidFill>
                <a:latin typeface="Montserrat"/>
              </a:defRPr>
            </a:pPr>
            <a:r>
              <a:t>✓ Analyse structurée EBIOS RM (5 ateliers).</a:t>
            </a:r>
          </a:p>
          <a:p>
            <a:pPr>
              <a:defRPr sz="950">
                <a:solidFill>
                  <a:srgbClr val="261E48"/>
                </a:solidFill>
                <a:latin typeface="Montserrat"/>
              </a:defRPr>
            </a:pPr>
            <a:r>
              <a:t>✓ Dossier de conformité DORA &amp; NIS2.</a:t>
            </a:r>
          </a:p>
          <a:p>
            <a:pPr>
              <a:defRPr sz="950">
                <a:solidFill>
                  <a:srgbClr val="261E48"/>
                </a:solidFill>
                <a:latin typeface="Montserrat"/>
              </a:defRPr>
            </a:pPr>
            <a:r>
              <a:t>✓ Élaboration du PCA / PRA et RTO/RPO.</a:t>
            </a:r>
          </a:p>
          <a:p>
            <a:pPr>
              <a:defRPr sz="950">
                <a:solidFill>
                  <a:srgbClr val="261E48"/>
                </a:solidFill>
                <a:latin typeface="Montserrat"/>
              </a:defRPr>
            </a:pPr>
            <a:r>
              <a:t>✓ Recommandations de pilotage stratégique.</a:t>
            </a:r>
          </a:p>
        </p:txBody>
      </p:sp>
      <p:sp>
        <p:nvSpPr>
          <p:cNvPr id="20" name="Rounded Rectangle 19"/>
          <p:cNvSpPr/>
          <p:nvPr/>
        </p:nvSpPr>
        <p:spPr>
          <a:xfrm>
            <a:off x="731520" y="5532120"/>
            <a:ext cx="10728655" cy="868680"/>
          </a:xfrm>
          <a:prstGeom prst="roundRect">
            <a:avLst/>
          </a:prstGeom>
          <a:solidFill>
            <a:srgbClr val="261E4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596128"/>
            <a:ext cx="10362895" cy="731520"/>
          </a:xfrm>
          <a:prstGeom prst="rect">
            <a:avLst/>
          </a:prstGeom>
          <a:noFill/>
        </p:spPr>
        <p:txBody>
          <a:bodyPr wrap="square">
            <a:spAutoFit/>
          </a:bodyPr>
          <a:lstStyle/>
          <a:p>
            <a:pPr>
              <a:defRPr sz="1050" b="1">
                <a:solidFill>
                  <a:srgbClr val="A1A6D4"/>
                </a:solidFill>
                <a:latin typeface="Montserrat"/>
              </a:defRPr>
            </a:pPr>
            <a:r>
              <a:t>MAÎTRISE COMPLÈTE DU CODE &amp; USAGE DE L'IA GÉNÉRATIVE :</a:t>
            </a:r>
          </a:p>
          <a:p>
            <a:pPr>
              <a:defRPr sz="1050">
                <a:solidFill>
                  <a:srgbClr val="FFFFFF"/>
                </a:solidFill>
                <a:latin typeface="Montserrat"/>
              </a:defRPr>
            </a:pPr>
            <a:r>
              <a:t>Conformément à la grille d'évaluation Axe 5, 100% du code produit et généré avec assistance IA a été revu, durci, testé par tests unitaires (pytest) et validé en conditions réelles.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1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261E48"/>
          </a:solidFill>
          <a:ln w="254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188720"/>
            <a:ext cx="9784080" cy="1371600"/>
          </a:xfrm>
          <a:prstGeom prst="rect">
            <a:avLst/>
          </a:prstGeom>
          <a:noFill/>
        </p:spPr>
        <p:txBody>
          <a:bodyPr wrap="square">
            <a:spAutoFit/>
          </a:bodyPr>
          <a:lstStyle/>
          <a:p>
            <a:pPr>
              <a:defRPr sz="3200" b="1">
                <a:solidFill>
                  <a:srgbClr val="FFFFFF"/>
                </a:solidFill>
                <a:latin typeface="Montserrat"/>
              </a:defRPr>
            </a:pPr>
            <a:r>
              <a:t>DÉMONSTRATION EN DIRECT</a:t>
            </a:r>
          </a:p>
          <a:p>
            <a:pPr>
              <a:defRPr sz="1600">
                <a:solidFill>
                  <a:srgbClr val="E4E6F3"/>
                </a:solidFill>
                <a:latin typeface="Montserrat"/>
              </a:defRPr>
            </a:pPr>
            <a:r>
              <a:t>Passage à la Démonstration Live (3 min) &amp; Session d'Échanges avec le Jury</a:t>
            </a:r>
          </a:p>
        </p:txBody>
      </p:sp>
      <p:sp>
        <p:nvSpPr>
          <p:cNvPr id="5" name="Rounded Rectangle 4"/>
          <p:cNvSpPr/>
          <p:nvPr/>
        </p:nvSpPr>
        <p:spPr>
          <a:xfrm>
            <a:off x="1188720" y="2743200"/>
            <a:ext cx="3108960" cy="1828800"/>
          </a:xfrm>
          <a:prstGeom prst="roundRect">
            <a:avLst/>
          </a:prstGeom>
          <a:solidFill>
            <a:srgbClr val="30285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2880360"/>
            <a:ext cx="2834640" cy="1554480"/>
          </a:xfrm>
          <a:prstGeom prst="rect">
            <a:avLst/>
          </a:prstGeom>
          <a:noFill/>
        </p:spPr>
        <p:txBody>
          <a:bodyPr wrap="square">
            <a:spAutoFit/>
          </a:bodyPr>
          <a:lstStyle/>
          <a:p>
            <a:pPr>
              <a:defRPr sz="1300" b="1">
                <a:solidFill>
                  <a:srgbClr val="FFFFFF"/>
                </a:solidFill>
                <a:latin typeface="Montserrat"/>
              </a:defRPr>
            </a:pPr>
            <a:r>
              <a:t>Terminal Bancaire Client</a:t>
            </a:r>
          </a:p>
          <a:p>
            <a:pPr>
              <a:defRPr sz="1100" b="1">
                <a:solidFill>
                  <a:srgbClr val="16A34A"/>
                </a:solidFill>
                <a:latin typeface="Montserrat"/>
              </a:defRPr>
            </a:pPr>
            <a:r>
              <a:t>http://localhost:3000</a:t>
            </a:r>
          </a:p>
          <a:p>
            <a:br/>
            <a:pPr>
              <a:defRPr sz="950">
                <a:solidFill>
                  <a:srgbClr val="E4E6F3"/>
                </a:solidFill>
                <a:latin typeface="Montserrat"/>
              </a:defRPr>
            </a:pPr>
            <a:r>
              <a:t>Accès public non filtré simulant les achats en ligne des utilisateurs finaux.</a:t>
            </a:r>
          </a:p>
        </p:txBody>
      </p:sp>
      <p:sp>
        <p:nvSpPr>
          <p:cNvPr id="7" name="Rounded Rectangle 6"/>
          <p:cNvSpPr/>
          <p:nvPr/>
        </p:nvSpPr>
        <p:spPr>
          <a:xfrm>
            <a:off x="4526280" y="2743200"/>
            <a:ext cx="3108960" cy="1828800"/>
          </a:xfrm>
          <a:prstGeom prst="roundRect">
            <a:avLst/>
          </a:prstGeom>
          <a:solidFill>
            <a:srgbClr val="30285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880360"/>
            <a:ext cx="2834640" cy="1554480"/>
          </a:xfrm>
          <a:prstGeom prst="rect">
            <a:avLst/>
          </a:prstGeom>
          <a:noFill/>
        </p:spPr>
        <p:txBody>
          <a:bodyPr wrap="square">
            <a:spAutoFit/>
          </a:bodyPr>
          <a:lstStyle/>
          <a:p>
            <a:pPr>
              <a:defRPr sz="1300" b="1">
                <a:solidFill>
                  <a:srgbClr val="FFFFFF"/>
                </a:solidFill>
                <a:latin typeface="Montserrat"/>
              </a:defRPr>
            </a:pPr>
            <a:r>
              <a:t>Console Supervision SOC</a:t>
            </a:r>
          </a:p>
          <a:p>
            <a:pPr>
              <a:defRPr sz="1100" b="1">
                <a:solidFill>
                  <a:srgbClr val="16A34A"/>
                </a:solidFill>
                <a:latin typeface="Montserrat"/>
              </a:defRPr>
            </a:pPr>
            <a:r>
              <a:t>http://localhost:3000/supervision</a:t>
            </a:r>
          </a:p>
          <a:p>
            <a:br/>
            <a:pPr>
              <a:defRPr sz="950">
                <a:solidFill>
                  <a:srgbClr val="E4E6F3"/>
                </a:solidFill>
                <a:latin typeface="Montserrat"/>
              </a:defRPr>
            </a:pPr>
            <a:r>
              <a:t>Accès sécurisé JWT Bearer : métriques AIOps, statut réplicas et logs.</a:t>
            </a:r>
          </a:p>
        </p:txBody>
      </p:sp>
      <p:sp>
        <p:nvSpPr>
          <p:cNvPr id="9" name="Rounded Rectangle 8"/>
          <p:cNvSpPr/>
          <p:nvPr/>
        </p:nvSpPr>
        <p:spPr>
          <a:xfrm>
            <a:off x="7863840" y="2743200"/>
            <a:ext cx="3108960" cy="1828800"/>
          </a:xfrm>
          <a:prstGeom prst="roundRect">
            <a:avLst/>
          </a:prstGeom>
          <a:solidFill>
            <a:srgbClr val="302858"/>
          </a:solidFill>
          <a:ln w="12700">
            <a:solidFill>
              <a:srgbClr val="A1A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2880360"/>
            <a:ext cx="2834640" cy="1554480"/>
          </a:xfrm>
          <a:prstGeom prst="rect">
            <a:avLst/>
          </a:prstGeom>
          <a:noFill/>
        </p:spPr>
        <p:txBody>
          <a:bodyPr wrap="square">
            <a:spAutoFit/>
          </a:bodyPr>
          <a:lstStyle/>
          <a:p>
            <a:pPr>
              <a:defRPr sz="1300" b="1">
                <a:solidFill>
                  <a:srgbClr val="FFFFFF"/>
                </a:solidFill>
                <a:latin typeface="Montserrat"/>
              </a:defRPr>
            </a:pPr>
            <a:r>
              <a:t>Console Attaquant Red Team</a:t>
            </a:r>
          </a:p>
          <a:p>
            <a:pPr>
              <a:defRPr sz="1100" b="1">
                <a:solidFill>
                  <a:srgbClr val="16A34A"/>
                </a:solidFill>
                <a:latin typeface="Montserrat"/>
              </a:defRPr>
            </a:pPr>
            <a:r>
              <a:t>http://localhost:3001</a:t>
            </a:r>
          </a:p>
          <a:p>
            <a:br/>
            <a:pPr>
              <a:defRPr sz="950">
                <a:solidFill>
                  <a:srgbClr val="E4E6F3"/>
                </a:solidFill>
                <a:latin typeface="Montserrat"/>
              </a:defRPr>
            </a:pPr>
            <a:r>
              <a:t>Module externe autonome sur PC distinct : déclenchement des attaques.</a:t>
            </a:r>
          </a:p>
        </p:txBody>
      </p:sp>
      <p:sp>
        <p:nvSpPr>
          <p:cNvPr id="11" name="TextBox 10"/>
          <p:cNvSpPr txBox="1"/>
          <p:nvPr/>
        </p:nvSpPr>
        <p:spPr>
          <a:xfrm>
            <a:off x="1188720" y="4846320"/>
            <a:ext cx="9784080" cy="1005840"/>
          </a:xfrm>
          <a:prstGeom prst="rect">
            <a:avLst/>
          </a:prstGeom>
          <a:noFill/>
        </p:spPr>
        <p:txBody>
          <a:bodyPr wrap="square">
            <a:spAutoFit/>
          </a:bodyPr>
          <a:lstStyle/>
          <a:p>
            <a:pPr algn="ctr">
              <a:defRPr sz="1400" i="1">
                <a:solidFill>
                  <a:srgbClr val="A1A6D4"/>
                </a:solidFill>
                <a:latin typeface="Montserrat"/>
              </a:defRPr>
            </a:pPr>
            <a:r>
              <a:t>« PROJECT RESILIENCE-ALPHA : La cyber-résilience ne se promet pas, elle se démontre. »</a:t>
            </a:r>
          </a:p>
          <a:p>
            <a:pPr algn="ctr">
              <a:defRPr sz="1500" b="1">
                <a:solidFill>
                  <a:srgbClr val="FFFFFF"/>
                </a:solidFill>
                <a:latin typeface="Montserrat"/>
              </a:defRPr>
            </a:pPr>
            <a:r>
              <a:t>Merci pour votre attention. Nous lançons à présent le scénario d'attaque en direct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